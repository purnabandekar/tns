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embeddedFontLst>
    <p:embeddedFont>
      <p:font typeface="Roboto"/>
      <p:regular r:id="rId201314"/>
    </p:embeddedFont>
    <p:embeddedFont>
      <p:font typeface="Roboto Bold"/>
      <p:regular r:id="rId201315"/>
    </p:embeddedFont>
    <p:embeddedFont>
      <p:font typeface="Roboto Slab"/>
      <p:regular r:id="rId201316"/>
    </p:embeddedFont>
    <p:embeddedFont>
      <p:font typeface="Roboto Slab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71B21"/>
          </a:solidFill>
          <a:ln/>
        </p:spPr>
      </p:sp>
      <p:sp>
        <p:nvSpPr>
          <p:cNvPr id="3" name="Shape 1"/>
          <p:cNvSpPr/>
          <p:nvPr/>
        </p:nvSpPr>
        <p:spPr>
          <a:xfrm>
            <a:off x="0" y="0"/>
            <a:ext cx="12191695" cy="6858000"/>
          </a:xfrm>
          <a:prstGeom prst="rect">
            <a:avLst/>
          </a:prstGeom>
          <a:solidFill>
            <a:srgbClr val="202733"/>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image" Target="../media/image-2-1.png"/><Relationship Id="rId8" Type="http://schemas.openxmlformats.org/officeDocument/2006/relationships/image" Target="../media/image-2-2.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png"/><Relationship Id="rId12" Type="http://schemas.openxmlformats.org/officeDocument/2006/relationships/image" Target="../media/image-2-2.svg"/><Relationship Id="rId13" Type="http://schemas.openxmlformats.org/officeDocument/2006/relationships/image" Target="../media/image-2-1.png"/><Relationship Id="rId14" Type="http://schemas.openxmlformats.org/officeDocument/2006/relationships/image" Target="../media/image-2-2.svg"/><Relationship Id="rId15" Type="http://schemas.openxmlformats.org/officeDocument/2006/relationships/slideLayout" Target="../slideLayouts/slideLayout2.xml"/><Relationship Id="rId1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4.png"/><Relationship Id="rId7" Type="http://schemas.openxmlformats.org/officeDocument/2006/relationships/image" Target="../media/image-4-5.svg"/><Relationship Id="rId8" Type="http://schemas.openxmlformats.org/officeDocument/2006/relationships/image" Target="../media/image-4-4.png"/><Relationship Id="rId9" Type="http://schemas.openxmlformats.org/officeDocument/2006/relationships/image" Target="../media/image-4-5.sv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1475" y="1062038"/>
            <a:ext cx="2675466" cy="251420"/>
          </a:xfrm>
          <a:prstGeom prst="roundRect">
            <a:avLst>
              <a:gd name="adj" fmla="val 7894"/>
            </a:avLst>
          </a:prstGeom>
          <a:solidFill>
            <a:srgbClr val="082545"/>
          </a:solidFill>
          <a:ln/>
        </p:spPr>
      </p:sp>
      <p:sp>
        <p:nvSpPr>
          <p:cNvPr id="3" name="Text 1"/>
          <p:cNvSpPr/>
          <p:nvPr/>
        </p:nvSpPr>
        <p:spPr>
          <a:xfrm>
            <a:off x="760691" y="1111647"/>
            <a:ext cx="3086618" cy="152202"/>
          </a:xfrm>
          <a:prstGeom prst="rect">
            <a:avLst/>
          </a:prstGeom>
          <a:noFill/>
          <a:ln/>
        </p:spPr>
        <p:txBody>
          <a:bodyPr wrap="none" lIns="0" tIns="0" rIns="0" bIns="0" rtlCol="0" anchor="t"/>
          <a:lstStyle/>
          <a:p>
            <a:pPr algn="l" indent="0" marL="0">
              <a:lnSpc>
                <a:spcPct val="96000"/>
              </a:lnSpc>
              <a:buNone/>
            </a:pPr>
            <a:r>
              <a:rPr lang="en-US" sz="1000" dirty="0">
                <a:solidFill>
                  <a:srgbClr val="D6E5EF"/>
                </a:solidFill>
                <a:latin typeface="Roboto" pitchFamily="34" charset="0"/>
                <a:ea typeface="Roboto" pitchFamily="34" charset="-122"/>
                <a:cs typeface="Roboto" pitchFamily="34" charset="-120"/>
              </a:rPr>
              <a:t>TNS DATA SCIENCE CAPSTONE PROJECT</a:t>
            </a:r>
            <a:endParaRPr lang="en-US" sz="1000" dirty="0"/>
          </a:p>
        </p:txBody>
      </p:sp>
      <p:sp>
        <p:nvSpPr>
          <p:cNvPr id="4" name="Text 2"/>
          <p:cNvSpPr/>
          <p:nvPr/>
        </p:nvSpPr>
        <p:spPr>
          <a:xfrm>
            <a:off x="661475" y="1379538"/>
            <a:ext cx="10868745" cy="1033463"/>
          </a:xfrm>
          <a:prstGeom prst="rect">
            <a:avLst/>
          </a:prstGeom>
          <a:noFill/>
          <a:ln/>
        </p:spPr>
        <p:txBody>
          <a:bodyPr wrap="square" lIns="0" tIns="0" rIns="0" bIns="0" rtlCol="0" anchor="t">
            <a:normAutofit/>
          </a:bodyPr>
          <a:lstStyle/>
          <a:p>
            <a:pPr algn="l" indent="0" marL="0">
              <a:lnSpc>
                <a:spcPct val="104000"/>
              </a:lnSpc>
              <a:buNone/>
            </a:pPr>
            <a:r>
              <a:rPr lang="en-US" sz="3250" dirty="0">
                <a:solidFill>
                  <a:srgbClr val="76B9FF"/>
                </a:solidFill>
                <a:latin typeface="Roboto Slab" pitchFamily="34" charset="0"/>
                <a:ea typeface="Roboto Slab" pitchFamily="34" charset="-122"/>
                <a:cs typeface="Roboto Slab" pitchFamily="34" charset="-120"/>
              </a:rPr>
              <a:t>Manufacturing Equipment Output Prediction Using Linear Regression</a:t>
            </a:r>
            <a:endParaRPr lang="en-US" sz="3250" dirty="0"/>
          </a:p>
        </p:txBody>
      </p:sp>
      <p:sp>
        <p:nvSpPr>
          <p:cNvPr id="5" name="Text 3"/>
          <p:cNvSpPr/>
          <p:nvPr/>
        </p:nvSpPr>
        <p:spPr>
          <a:xfrm>
            <a:off x="661475" y="2661047"/>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D6E5EF"/>
                </a:solidFill>
                <a:latin typeface="Roboto" pitchFamily="34" charset="0"/>
                <a:ea typeface="Roboto" pitchFamily="34" charset="-122"/>
                <a:cs typeface="Roboto" pitchFamily="34" charset="-120"/>
              </a:rPr>
              <a:t>A data-driven project focused on predicting hourly machine production output using operating conditions, material properties, and environmental parameters.</a:t>
            </a:r>
            <a:endParaRPr lang="en-US" sz="1300" dirty="0"/>
          </a:p>
        </p:txBody>
      </p:sp>
      <p:sp>
        <p:nvSpPr>
          <p:cNvPr id="6" name="Shape 4"/>
          <p:cNvSpPr/>
          <p:nvPr/>
        </p:nvSpPr>
        <p:spPr>
          <a:xfrm>
            <a:off x="661475" y="3417590"/>
            <a:ext cx="10868745" cy="19050"/>
          </a:xfrm>
          <a:prstGeom prst="roundRect">
            <a:avLst>
              <a:gd name="adj" fmla="val 49999"/>
            </a:avLst>
          </a:prstGeom>
          <a:solidFill>
            <a:srgbClr val="D6E5EF">
              <a:alpha val="50000"/>
            </a:srgbClr>
          </a:solidFill>
          <a:ln/>
        </p:spPr>
      </p:sp>
      <p:sp>
        <p:nvSpPr>
          <p:cNvPr id="7" name="Shape 5"/>
          <p:cNvSpPr/>
          <p:nvPr/>
        </p:nvSpPr>
        <p:spPr>
          <a:xfrm>
            <a:off x="661475" y="3925888"/>
            <a:ext cx="3512653" cy="19050"/>
          </a:xfrm>
          <a:prstGeom prst="rect">
            <a:avLst/>
          </a:prstGeom>
          <a:solidFill>
            <a:srgbClr val="599CE8"/>
          </a:solidFill>
          <a:ln/>
        </p:spPr>
      </p:sp>
      <p:sp>
        <p:nvSpPr>
          <p:cNvPr id="8" name="Text 6"/>
          <p:cNvSpPr/>
          <p:nvPr/>
        </p:nvSpPr>
        <p:spPr>
          <a:xfrm>
            <a:off x="661475" y="4046637"/>
            <a:ext cx="3512653" cy="258465"/>
          </a:xfrm>
          <a:prstGeom prst="rect">
            <a:avLst/>
          </a:prstGeom>
          <a:noFill/>
          <a:ln/>
        </p:spPr>
        <p:txBody>
          <a:bodyPr wrap="none" lIns="0" tIns="0" rIns="0" bIns="0" rtlCol="0" anchor="t"/>
          <a:lstStyle/>
          <a:p>
            <a:pPr algn="l" indent="0" marL="0">
              <a:lnSpc>
                <a:spcPct val="104000"/>
              </a:lnSpc>
              <a:buNone/>
            </a:pPr>
            <a:r>
              <a:rPr lang="en-US" sz="1600" dirty="0">
                <a:solidFill>
                  <a:srgbClr val="D6E5EF"/>
                </a:solidFill>
                <a:latin typeface="Roboto Slab" pitchFamily="34" charset="0"/>
                <a:ea typeface="Roboto Slab" pitchFamily="34" charset="-122"/>
                <a:cs typeface="Roboto Slab" pitchFamily="34" charset="-120"/>
              </a:rPr>
              <a:t>Problem</a:t>
            </a:r>
            <a:endParaRPr lang="en-US" sz="1600" dirty="0"/>
          </a:p>
        </p:txBody>
      </p:sp>
      <p:sp>
        <p:nvSpPr>
          <p:cNvPr id="9" name="Text 7"/>
          <p:cNvSpPr/>
          <p:nvPr/>
        </p:nvSpPr>
        <p:spPr>
          <a:xfrm>
            <a:off x="661475" y="4404320"/>
            <a:ext cx="3512653"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D6E5EF"/>
                </a:solidFill>
                <a:latin typeface="Roboto" pitchFamily="34" charset="0"/>
                <a:ea typeface="Roboto" pitchFamily="34" charset="-122"/>
                <a:cs typeface="Roboto" pitchFamily="34" charset="-120"/>
              </a:rPr>
              <a:t>Define the manufacturing challenge and prediction goal.</a:t>
            </a:r>
            <a:endParaRPr lang="en-US" sz="1300" dirty="0"/>
          </a:p>
        </p:txBody>
      </p:sp>
      <p:sp>
        <p:nvSpPr>
          <p:cNvPr id="10" name="Shape 8"/>
          <p:cNvSpPr/>
          <p:nvPr/>
        </p:nvSpPr>
        <p:spPr>
          <a:xfrm>
            <a:off x="4339422" y="3925888"/>
            <a:ext cx="3512752" cy="19050"/>
          </a:xfrm>
          <a:prstGeom prst="rect">
            <a:avLst/>
          </a:prstGeom>
          <a:solidFill>
            <a:srgbClr val="599CE8"/>
          </a:solidFill>
          <a:ln/>
        </p:spPr>
      </p:sp>
      <p:sp>
        <p:nvSpPr>
          <p:cNvPr id="11" name="Text 9"/>
          <p:cNvSpPr/>
          <p:nvPr/>
        </p:nvSpPr>
        <p:spPr>
          <a:xfrm>
            <a:off x="4339422" y="4046637"/>
            <a:ext cx="3512752" cy="258465"/>
          </a:xfrm>
          <a:prstGeom prst="rect">
            <a:avLst/>
          </a:prstGeom>
          <a:noFill/>
          <a:ln/>
        </p:spPr>
        <p:txBody>
          <a:bodyPr wrap="none" lIns="0" tIns="0" rIns="0" bIns="0" rtlCol="0" anchor="t"/>
          <a:lstStyle/>
          <a:p>
            <a:pPr algn="l" indent="0" marL="0">
              <a:lnSpc>
                <a:spcPct val="104000"/>
              </a:lnSpc>
              <a:buNone/>
            </a:pPr>
            <a:r>
              <a:rPr lang="en-US" sz="1600" dirty="0">
                <a:solidFill>
                  <a:srgbClr val="D6E5EF"/>
                </a:solidFill>
                <a:latin typeface="Roboto Slab" pitchFamily="34" charset="0"/>
                <a:ea typeface="Roboto Slab" pitchFamily="34" charset="-122"/>
                <a:cs typeface="Roboto Slab" pitchFamily="34" charset="-120"/>
              </a:rPr>
              <a:t>Data &amp; Analysis</a:t>
            </a:r>
            <a:endParaRPr lang="en-US" sz="1600" dirty="0"/>
          </a:p>
        </p:txBody>
      </p:sp>
      <p:sp>
        <p:nvSpPr>
          <p:cNvPr id="12" name="Text 10"/>
          <p:cNvSpPr/>
          <p:nvPr/>
        </p:nvSpPr>
        <p:spPr>
          <a:xfrm>
            <a:off x="4339422" y="4404320"/>
            <a:ext cx="3512752"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D6E5EF"/>
                </a:solidFill>
                <a:latin typeface="Roboto" pitchFamily="34" charset="0"/>
                <a:ea typeface="Roboto" pitchFamily="34" charset="-122"/>
                <a:cs typeface="Roboto" pitchFamily="34" charset="-120"/>
              </a:rPr>
              <a:t>Explore the dataset, understand key variables, and identify patterns.</a:t>
            </a:r>
            <a:endParaRPr lang="en-US" sz="1300" dirty="0"/>
          </a:p>
        </p:txBody>
      </p:sp>
      <p:sp>
        <p:nvSpPr>
          <p:cNvPr id="13" name="Shape 11"/>
          <p:cNvSpPr/>
          <p:nvPr/>
        </p:nvSpPr>
        <p:spPr>
          <a:xfrm>
            <a:off x="8017468" y="3925888"/>
            <a:ext cx="3512653" cy="19050"/>
          </a:xfrm>
          <a:prstGeom prst="rect">
            <a:avLst/>
          </a:prstGeom>
          <a:solidFill>
            <a:srgbClr val="599CE8"/>
          </a:solidFill>
          <a:ln/>
        </p:spPr>
      </p:sp>
      <p:sp>
        <p:nvSpPr>
          <p:cNvPr id="14" name="Text 12"/>
          <p:cNvSpPr/>
          <p:nvPr/>
        </p:nvSpPr>
        <p:spPr>
          <a:xfrm>
            <a:off x="8017468" y="4046637"/>
            <a:ext cx="3512653" cy="258465"/>
          </a:xfrm>
          <a:prstGeom prst="rect">
            <a:avLst/>
          </a:prstGeom>
          <a:noFill/>
          <a:ln/>
        </p:spPr>
        <p:txBody>
          <a:bodyPr wrap="none" lIns="0" tIns="0" rIns="0" bIns="0" rtlCol="0" anchor="t"/>
          <a:lstStyle/>
          <a:p>
            <a:pPr algn="l" indent="0" marL="0">
              <a:lnSpc>
                <a:spcPct val="104000"/>
              </a:lnSpc>
              <a:buNone/>
            </a:pPr>
            <a:r>
              <a:rPr lang="en-US" sz="1600" dirty="0">
                <a:solidFill>
                  <a:srgbClr val="D6E5EF"/>
                </a:solidFill>
                <a:latin typeface="Roboto Slab" pitchFamily="34" charset="0"/>
                <a:ea typeface="Roboto Slab" pitchFamily="34" charset="-122"/>
                <a:cs typeface="Roboto Slab" pitchFamily="34" charset="-120"/>
              </a:rPr>
              <a:t>Model &amp; Deployment</a:t>
            </a:r>
            <a:endParaRPr lang="en-US" sz="1600" dirty="0"/>
          </a:p>
        </p:txBody>
      </p:sp>
      <p:sp>
        <p:nvSpPr>
          <p:cNvPr id="15" name="Text 13"/>
          <p:cNvSpPr/>
          <p:nvPr/>
        </p:nvSpPr>
        <p:spPr>
          <a:xfrm>
            <a:off x="8017468" y="4404320"/>
            <a:ext cx="3512653"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D6E5EF"/>
                </a:solidFill>
                <a:latin typeface="Roboto" pitchFamily="34" charset="0"/>
                <a:ea typeface="Roboto" pitchFamily="34" charset="-122"/>
                <a:cs typeface="Roboto" pitchFamily="34" charset="-120"/>
              </a:rPr>
              <a:t>Build a linear regression model and package it for use with FastAPI and Docker.</a:t>
            </a:r>
            <a:endParaRPr lang="en-US" sz="1300" dirty="0"/>
          </a:p>
        </p:txBody>
      </p:sp>
      <p:sp>
        <p:nvSpPr>
          <p:cNvPr id="16" name="Shape 14"/>
          <p:cNvSpPr/>
          <p:nvPr/>
        </p:nvSpPr>
        <p:spPr>
          <a:xfrm>
            <a:off x="661475" y="5268416"/>
            <a:ext cx="10868745" cy="19050"/>
          </a:xfrm>
          <a:prstGeom prst="roundRect">
            <a:avLst>
              <a:gd name="adj" fmla="val 49999"/>
            </a:avLst>
          </a:prstGeom>
          <a:solidFill>
            <a:srgbClr val="D6E5EF">
              <a:alpha val="50000"/>
            </a:srgbClr>
          </a:solidFill>
          <a:ln/>
        </p:spPr>
      </p:sp>
      <p:sp>
        <p:nvSpPr>
          <p:cNvPr id="17" name="Text 15"/>
          <p:cNvSpPr/>
          <p:nvPr/>
        </p:nvSpPr>
        <p:spPr>
          <a:xfrm>
            <a:off x="661475" y="5531247"/>
            <a:ext cx="11478330" cy="264616"/>
          </a:xfrm>
          <a:prstGeom prst="rect">
            <a:avLst/>
          </a:prstGeom>
          <a:noFill/>
          <a:ln/>
        </p:spPr>
        <p:txBody>
          <a:bodyPr wrap="none" lIns="0" tIns="0" rIns="0" bIns="0" rtlCol="0" anchor="t"/>
          <a:lstStyle/>
          <a:p>
            <a:pPr algn="l" indent="0" marL="0">
              <a:lnSpc>
                <a:spcPct val="133000"/>
              </a:lnSpc>
              <a:buNone/>
            </a:pPr>
            <a:r>
              <a:rPr lang="en-US" sz="1300" b="1" dirty="0">
                <a:solidFill>
                  <a:srgbClr val="D6E5EF"/>
                </a:solidFill>
                <a:latin typeface="Roboto Bold" pitchFamily="34" charset="0"/>
                <a:ea typeface="Roboto Bold" pitchFamily="34" charset="-122"/>
                <a:cs typeface="Roboto Bold" pitchFamily="34" charset="-120"/>
              </a:rPr>
              <a:t>Key Technologies:</a:t>
            </a:r>
            <a:pPr algn="l" indent="0" marL="0">
              <a:lnSpc>
                <a:spcPct val="133000"/>
              </a:lnSpc>
              <a:buNone/>
            </a:pPr>
            <a:r>
              <a:rPr lang="en-US" sz="1300" dirty="0">
                <a:solidFill>
                  <a:srgbClr val="D6E5EF"/>
                </a:solidFill>
                <a:latin typeface="Roboto" pitchFamily="34" charset="0"/>
                <a:ea typeface="Roboto" pitchFamily="34" charset="-122"/>
                <a:cs typeface="Roboto" pitchFamily="34" charset="-120"/>
              </a:rPr>
              <a:t> Python · Pandas · NumPy · Scikit-learn · FastAPI · Docker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516830"/>
            <a:ext cx="1443101" cy="188516"/>
          </a:xfrm>
          <a:prstGeom prst="roundRect">
            <a:avLst>
              <a:gd name="adj" fmla="val 7896"/>
            </a:avLst>
          </a:prstGeom>
          <a:noFill/>
          <a:ln w="6350">
            <a:solidFill>
              <a:srgbClr val="66A8EE"/>
            </a:solidFill>
            <a:prstDash val="solid"/>
          </a:ln>
        </p:spPr>
      </p:sp>
      <p:sp>
        <p:nvSpPr>
          <p:cNvPr id="3" name="Text 1"/>
          <p:cNvSpPr/>
          <p:nvPr/>
        </p:nvSpPr>
        <p:spPr>
          <a:xfrm>
            <a:off x="735887" y="554038"/>
            <a:ext cx="1903861" cy="114102"/>
          </a:xfrm>
          <a:prstGeom prst="rect">
            <a:avLst/>
          </a:prstGeom>
          <a:noFill/>
          <a:ln/>
        </p:spPr>
        <p:txBody>
          <a:bodyPr wrap="none" lIns="0" tIns="0" rIns="0" bIns="0" rtlCol="0" anchor="t"/>
          <a:lstStyle/>
          <a:p>
            <a:pPr algn="l" indent="0" marL="0">
              <a:lnSpc>
                <a:spcPct val="96000"/>
              </a:lnSpc>
              <a:buNone/>
            </a:pPr>
            <a:r>
              <a:rPr lang="en-US" sz="750" dirty="0">
                <a:solidFill>
                  <a:srgbClr val="66A8EE"/>
                </a:solidFill>
                <a:latin typeface="Roboto" pitchFamily="34" charset="0"/>
                <a:ea typeface="Roboto" pitchFamily="34" charset="-122"/>
                <a:cs typeface="Roboto" pitchFamily="34" charset="-120"/>
              </a:rPr>
              <a:t>LIBRARIES AND TOOLS USED</a:t>
            </a:r>
            <a:endParaRPr lang="en-US" sz="750" dirty="0"/>
          </a:p>
        </p:txBody>
      </p:sp>
      <p:sp>
        <p:nvSpPr>
          <p:cNvPr id="4" name="Text 2"/>
          <p:cNvSpPr/>
          <p:nvPr/>
        </p:nvSpPr>
        <p:spPr>
          <a:xfrm>
            <a:off x="661475" y="742553"/>
            <a:ext cx="10868745" cy="387648"/>
          </a:xfrm>
          <a:prstGeom prst="rect">
            <a:avLst/>
          </a:prstGeom>
          <a:noFill/>
          <a:ln/>
        </p:spPr>
        <p:txBody>
          <a:bodyPr wrap="none" lIns="0" tIns="0" rIns="0" bIns="0" rtlCol="0" anchor="t"/>
          <a:lstStyle/>
          <a:p>
            <a:pPr algn="l" indent="0" marL="0">
              <a:lnSpc>
                <a:spcPct val="104000"/>
              </a:lnSpc>
              <a:buNone/>
            </a:pPr>
            <a:r>
              <a:rPr lang="en-US" sz="2400" dirty="0">
                <a:solidFill>
                  <a:srgbClr val="76B9FF"/>
                </a:solidFill>
                <a:latin typeface="Roboto Slab" pitchFamily="34" charset="0"/>
                <a:ea typeface="Roboto Slab" pitchFamily="34" charset="-122"/>
                <a:cs typeface="Roboto Slab" pitchFamily="34" charset="-120"/>
              </a:rPr>
              <a:t>Libraries and Tools Used for Modeling and Deployment</a:t>
            </a:r>
            <a:endParaRPr lang="en-US" sz="2400" dirty="0"/>
          </a:p>
        </p:txBody>
      </p:sp>
      <p:sp>
        <p:nvSpPr>
          <p:cNvPr id="5" name="Text 3"/>
          <p:cNvSpPr/>
          <p:nvPr/>
        </p:nvSpPr>
        <p:spPr>
          <a:xfrm>
            <a:off x="661475" y="1269702"/>
            <a:ext cx="11478330" cy="173633"/>
          </a:xfrm>
          <a:prstGeom prst="rect">
            <a:avLst/>
          </a:prstGeom>
          <a:noFill/>
          <a:ln/>
        </p:spPr>
        <p:txBody>
          <a:bodyPr wrap="none" lIns="0" tIns="0" rIns="0" bIns="0" rtlCol="0" anchor="t"/>
          <a:lstStyle/>
          <a:p>
            <a:pPr algn="l" indent="0" marL="0">
              <a:lnSpc>
                <a:spcPct val="117000"/>
              </a:lnSpc>
              <a:buNone/>
            </a:pPr>
            <a:r>
              <a:rPr lang="en-US" sz="950" dirty="0">
                <a:solidFill>
                  <a:srgbClr val="D6E5EF"/>
                </a:solidFill>
                <a:latin typeface="Roboto" pitchFamily="34" charset="0"/>
                <a:ea typeface="Roboto" pitchFamily="34" charset="-122"/>
                <a:cs typeface="Roboto" pitchFamily="34" charset="-120"/>
              </a:rPr>
              <a:t>We selected a practical stack for data preparation, modeling, visualization, and deployment — balancing performance, ease of use, and production readiness.</a:t>
            </a:r>
            <a:endParaRPr lang="en-US" sz="950" dirty="0"/>
          </a:p>
        </p:txBody>
      </p:sp>
      <p:sp>
        <p:nvSpPr>
          <p:cNvPr id="6" name="Text 4"/>
          <p:cNvSpPr/>
          <p:nvPr/>
        </p:nvSpPr>
        <p:spPr>
          <a:xfrm>
            <a:off x="661475" y="1640880"/>
            <a:ext cx="5283068" cy="193774"/>
          </a:xfrm>
          <a:prstGeom prst="rect">
            <a:avLst/>
          </a:prstGeom>
          <a:noFill/>
          <a:ln/>
        </p:spPr>
        <p:txBody>
          <a:bodyPr wrap="none" lIns="0" tIns="0" rIns="0" bIns="0" rtlCol="0" anchor="t"/>
          <a:lstStyle/>
          <a:p>
            <a:pPr algn="l" indent="0" marL="0">
              <a:lnSpc>
                <a:spcPct val="104000"/>
              </a:lnSpc>
              <a:buNone/>
            </a:pPr>
            <a:r>
              <a:rPr lang="en-US" sz="1200" dirty="0">
                <a:solidFill>
                  <a:srgbClr val="76B9FF"/>
                </a:solidFill>
                <a:latin typeface="Roboto Slab" pitchFamily="34" charset="0"/>
                <a:ea typeface="Roboto Slab" pitchFamily="34" charset="-122"/>
                <a:cs typeface="Roboto Slab" pitchFamily="34" charset="-120"/>
              </a:rPr>
              <a:t>Python Libraries</a:t>
            </a:r>
            <a:endParaRPr lang="en-US" sz="12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939230"/>
            <a:ext cx="2595001" cy="1428353"/>
          </a:xfrm>
          <a:prstGeom prst="rect">
            <a:avLst/>
          </a:prstGeom>
        </p:spPr>
      </p:pic>
      <p:sp>
        <p:nvSpPr>
          <p:cNvPr id="8" name="Text 5"/>
          <p:cNvSpPr/>
          <p:nvPr/>
        </p:nvSpPr>
        <p:spPr>
          <a:xfrm>
            <a:off x="848994" y="2075954"/>
            <a:ext cx="2270763" cy="193774"/>
          </a:xfrm>
          <a:prstGeom prst="rect">
            <a:avLst/>
          </a:prstGeom>
          <a:noFill/>
          <a:ln/>
        </p:spPr>
        <p:txBody>
          <a:bodyPr wrap="none" lIns="0" tIns="0" rIns="0" bIns="0" rtlCol="0" anchor="t"/>
          <a:lstStyle/>
          <a:p>
            <a:pPr algn="l" indent="0" marL="0">
              <a:lnSpc>
                <a:spcPct val="104000"/>
              </a:lnSpc>
              <a:buNone/>
            </a:pPr>
            <a:r>
              <a:rPr lang="en-US" sz="1200" dirty="0">
                <a:solidFill>
                  <a:srgbClr val="D6E5EF"/>
                </a:solidFill>
                <a:latin typeface="Roboto Slab" pitchFamily="34" charset="0"/>
                <a:ea typeface="Roboto Slab" pitchFamily="34" charset="-122"/>
                <a:cs typeface="Roboto Slab" pitchFamily="34" charset="-120"/>
              </a:rPr>
              <a:t>Pandas</a:t>
            </a:r>
            <a:endParaRPr lang="en-US" sz="1200" dirty="0"/>
          </a:p>
        </p:txBody>
      </p:sp>
      <p:sp>
        <p:nvSpPr>
          <p:cNvPr id="9" name="Text 6"/>
          <p:cNvSpPr/>
          <p:nvPr/>
        </p:nvSpPr>
        <p:spPr>
          <a:xfrm>
            <a:off x="848994" y="2362696"/>
            <a:ext cx="2270763" cy="868164"/>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D6E5EF"/>
                </a:solidFill>
                <a:latin typeface="Roboto" pitchFamily="34" charset="0"/>
                <a:ea typeface="Roboto" pitchFamily="34" charset="-122"/>
                <a:cs typeface="Roboto" pitchFamily="34" charset="-120"/>
              </a:rPr>
              <a:t>Best for structured data cleaning and feature engineering. Compared with lower-level tools, it offers faster analysis, readable syntax, and seamless handling of tabular manufacturing data.</a:t>
            </a:r>
            <a:endParaRPr lang="en-US" sz="95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49442" y="1939230"/>
            <a:ext cx="2595101" cy="1428353"/>
          </a:xfrm>
          <a:prstGeom prst="rect">
            <a:avLst/>
          </a:prstGeom>
        </p:spPr>
      </p:pic>
      <p:sp>
        <p:nvSpPr>
          <p:cNvPr id="11" name="Text 7"/>
          <p:cNvSpPr/>
          <p:nvPr/>
        </p:nvSpPr>
        <p:spPr>
          <a:xfrm>
            <a:off x="3536961" y="2075954"/>
            <a:ext cx="2270862" cy="193774"/>
          </a:xfrm>
          <a:prstGeom prst="rect">
            <a:avLst/>
          </a:prstGeom>
          <a:noFill/>
          <a:ln/>
        </p:spPr>
        <p:txBody>
          <a:bodyPr wrap="none" lIns="0" tIns="0" rIns="0" bIns="0" rtlCol="0" anchor="t"/>
          <a:lstStyle/>
          <a:p>
            <a:pPr algn="l" indent="0" marL="0">
              <a:lnSpc>
                <a:spcPct val="104000"/>
              </a:lnSpc>
              <a:buNone/>
            </a:pPr>
            <a:r>
              <a:rPr lang="en-US" sz="1200" dirty="0">
                <a:solidFill>
                  <a:srgbClr val="D6E5EF"/>
                </a:solidFill>
                <a:latin typeface="Roboto Slab" pitchFamily="34" charset="0"/>
                <a:ea typeface="Roboto Slab" pitchFamily="34" charset="-122"/>
                <a:cs typeface="Roboto Slab" pitchFamily="34" charset="-120"/>
              </a:rPr>
              <a:t>NumPy</a:t>
            </a:r>
            <a:endParaRPr lang="en-US" sz="1200" dirty="0"/>
          </a:p>
        </p:txBody>
      </p:sp>
      <p:sp>
        <p:nvSpPr>
          <p:cNvPr id="12" name="Text 8"/>
          <p:cNvSpPr/>
          <p:nvPr/>
        </p:nvSpPr>
        <p:spPr>
          <a:xfrm>
            <a:off x="3536961" y="2362696"/>
            <a:ext cx="2270862" cy="868164"/>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D6E5EF"/>
                </a:solidFill>
                <a:latin typeface="Roboto" pitchFamily="34" charset="0"/>
                <a:ea typeface="Roboto" pitchFamily="34" charset="-122"/>
                <a:cs typeface="Roboto" pitchFamily="34" charset="-120"/>
              </a:rPr>
              <a:t>Efficient numerical computing for arrays and vectorized operations. It outperforms plain Python loops for speed and is the foundation for many scientific libraries.</a:t>
            </a:r>
            <a:endParaRPr lang="en-US" sz="95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460552"/>
            <a:ext cx="2595001" cy="1428353"/>
          </a:xfrm>
          <a:prstGeom prst="rect">
            <a:avLst/>
          </a:prstGeom>
        </p:spPr>
      </p:pic>
      <p:sp>
        <p:nvSpPr>
          <p:cNvPr id="14" name="Text 9"/>
          <p:cNvSpPr/>
          <p:nvPr/>
        </p:nvSpPr>
        <p:spPr>
          <a:xfrm>
            <a:off x="848994" y="3597275"/>
            <a:ext cx="2270763" cy="193774"/>
          </a:xfrm>
          <a:prstGeom prst="rect">
            <a:avLst/>
          </a:prstGeom>
          <a:noFill/>
          <a:ln/>
        </p:spPr>
        <p:txBody>
          <a:bodyPr wrap="none" lIns="0" tIns="0" rIns="0" bIns="0" rtlCol="0" anchor="t"/>
          <a:lstStyle/>
          <a:p>
            <a:pPr algn="l" indent="0" marL="0">
              <a:lnSpc>
                <a:spcPct val="104000"/>
              </a:lnSpc>
              <a:buNone/>
            </a:pPr>
            <a:r>
              <a:rPr lang="en-US" sz="1200" dirty="0">
                <a:solidFill>
                  <a:srgbClr val="D6E5EF"/>
                </a:solidFill>
                <a:latin typeface="Roboto Slab" pitchFamily="34" charset="0"/>
                <a:ea typeface="Roboto Slab" pitchFamily="34" charset="-122"/>
                <a:cs typeface="Roboto Slab" pitchFamily="34" charset="-120"/>
              </a:rPr>
              <a:t>Scikit-learn</a:t>
            </a:r>
            <a:endParaRPr lang="en-US" sz="1200" dirty="0"/>
          </a:p>
        </p:txBody>
      </p:sp>
      <p:sp>
        <p:nvSpPr>
          <p:cNvPr id="15" name="Text 10"/>
          <p:cNvSpPr/>
          <p:nvPr/>
        </p:nvSpPr>
        <p:spPr>
          <a:xfrm>
            <a:off x="848994" y="3884017"/>
            <a:ext cx="2270763" cy="868164"/>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D6E5EF"/>
                </a:solidFill>
                <a:latin typeface="Roboto" pitchFamily="34" charset="0"/>
                <a:ea typeface="Roboto" pitchFamily="34" charset="-122"/>
                <a:cs typeface="Roboto" pitchFamily="34" charset="-120"/>
              </a:rPr>
              <a:t>Reliable machine learning workflows with a consistent API. It is easier to use than many custom ML frameworks for classical regression, preprocessing, and evaluation.</a:t>
            </a:r>
            <a:endParaRPr lang="en-US" sz="95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49442" y="3460552"/>
            <a:ext cx="2595101" cy="1428353"/>
          </a:xfrm>
          <a:prstGeom prst="rect">
            <a:avLst/>
          </a:prstGeom>
        </p:spPr>
      </p:pic>
      <p:sp>
        <p:nvSpPr>
          <p:cNvPr id="17" name="Text 11"/>
          <p:cNvSpPr/>
          <p:nvPr/>
        </p:nvSpPr>
        <p:spPr>
          <a:xfrm>
            <a:off x="3536961" y="3597275"/>
            <a:ext cx="2270862" cy="193774"/>
          </a:xfrm>
          <a:prstGeom prst="rect">
            <a:avLst/>
          </a:prstGeom>
          <a:noFill/>
          <a:ln/>
        </p:spPr>
        <p:txBody>
          <a:bodyPr wrap="none" lIns="0" tIns="0" rIns="0" bIns="0" rtlCol="0" anchor="t"/>
          <a:lstStyle/>
          <a:p>
            <a:pPr algn="l" indent="0" marL="0">
              <a:lnSpc>
                <a:spcPct val="104000"/>
              </a:lnSpc>
              <a:buNone/>
            </a:pPr>
            <a:r>
              <a:rPr lang="en-US" sz="1200" dirty="0">
                <a:solidFill>
                  <a:srgbClr val="D6E5EF"/>
                </a:solidFill>
                <a:latin typeface="Roboto Slab" pitchFamily="34" charset="0"/>
                <a:ea typeface="Roboto Slab" pitchFamily="34" charset="-122"/>
                <a:cs typeface="Roboto Slab" pitchFamily="34" charset="-120"/>
              </a:rPr>
              <a:t>Matplotlib</a:t>
            </a:r>
            <a:endParaRPr lang="en-US" sz="1200" dirty="0"/>
          </a:p>
        </p:txBody>
      </p:sp>
      <p:sp>
        <p:nvSpPr>
          <p:cNvPr id="18" name="Text 12"/>
          <p:cNvSpPr/>
          <p:nvPr/>
        </p:nvSpPr>
        <p:spPr>
          <a:xfrm>
            <a:off x="3536961" y="3884017"/>
            <a:ext cx="2270862" cy="868164"/>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D6E5EF"/>
                </a:solidFill>
                <a:latin typeface="Roboto" pitchFamily="34" charset="0"/>
                <a:ea typeface="Roboto" pitchFamily="34" charset="-122"/>
                <a:cs typeface="Roboto" pitchFamily="34" charset="-120"/>
              </a:rPr>
              <a:t>Flexible, publication-ready plotting with full control over charts. It is more customizable than many high-level libraries when precise figure formatting is needed.</a:t>
            </a:r>
            <a:endParaRPr lang="en-US" sz="95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4981873"/>
            <a:ext cx="2595001" cy="1254720"/>
          </a:xfrm>
          <a:prstGeom prst="rect">
            <a:avLst/>
          </a:prstGeom>
        </p:spPr>
      </p:pic>
      <p:sp>
        <p:nvSpPr>
          <p:cNvPr id="20" name="Text 13"/>
          <p:cNvSpPr/>
          <p:nvPr/>
        </p:nvSpPr>
        <p:spPr>
          <a:xfrm>
            <a:off x="848994" y="5118596"/>
            <a:ext cx="2270763" cy="193774"/>
          </a:xfrm>
          <a:prstGeom prst="rect">
            <a:avLst/>
          </a:prstGeom>
          <a:noFill/>
          <a:ln/>
        </p:spPr>
        <p:txBody>
          <a:bodyPr wrap="none" lIns="0" tIns="0" rIns="0" bIns="0" rtlCol="0" anchor="t"/>
          <a:lstStyle/>
          <a:p>
            <a:pPr algn="l" indent="0" marL="0">
              <a:lnSpc>
                <a:spcPct val="104000"/>
              </a:lnSpc>
              <a:buNone/>
            </a:pPr>
            <a:r>
              <a:rPr lang="en-US" sz="1200" dirty="0">
                <a:solidFill>
                  <a:srgbClr val="D6E5EF"/>
                </a:solidFill>
                <a:latin typeface="Roboto Slab" pitchFamily="34" charset="0"/>
                <a:ea typeface="Roboto Slab" pitchFamily="34" charset="-122"/>
                <a:cs typeface="Roboto Slab" pitchFamily="34" charset="-120"/>
              </a:rPr>
              <a:t>Seaborn</a:t>
            </a:r>
            <a:endParaRPr lang="en-US" sz="1200" dirty="0"/>
          </a:p>
        </p:txBody>
      </p:sp>
      <p:sp>
        <p:nvSpPr>
          <p:cNvPr id="21" name="Text 14"/>
          <p:cNvSpPr/>
          <p:nvPr/>
        </p:nvSpPr>
        <p:spPr>
          <a:xfrm>
            <a:off x="848994" y="5405338"/>
            <a:ext cx="2270763" cy="694531"/>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D6E5EF"/>
                </a:solidFill>
                <a:latin typeface="Roboto" pitchFamily="34" charset="0"/>
                <a:ea typeface="Roboto" pitchFamily="34" charset="-122"/>
                <a:cs typeface="Roboto" pitchFamily="34" charset="-120"/>
              </a:rPr>
              <a:t>Statistical visualizations with cleaner defaults than Matplotlib alone. It makes it easier to spot trends, correlations, and distributions in exploratory analysis.</a:t>
            </a:r>
            <a:endParaRPr lang="en-US" sz="950" dirty="0"/>
          </a:p>
        </p:txBody>
      </p:sp>
      <p:sp>
        <p:nvSpPr>
          <p:cNvPr id="22" name="Text 15"/>
          <p:cNvSpPr/>
          <p:nvPr/>
        </p:nvSpPr>
        <p:spPr>
          <a:xfrm>
            <a:off x="6253502" y="1640880"/>
            <a:ext cx="5283068" cy="193774"/>
          </a:xfrm>
          <a:prstGeom prst="rect">
            <a:avLst/>
          </a:prstGeom>
          <a:noFill/>
          <a:ln/>
        </p:spPr>
        <p:txBody>
          <a:bodyPr wrap="none" lIns="0" tIns="0" rIns="0" bIns="0" rtlCol="0" anchor="t"/>
          <a:lstStyle/>
          <a:p>
            <a:pPr algn="l" indent="0" marL="0">
              <a:lnSpc>
                <a:spcPct val="104000"/>
              </a:lnSpc>
              <a:buNone/>
            </a:pPr>
            <a:r>
              <a:rPr lang="en-US" sz="1200" dirty="0">
                <a:solidFill>
                  <a:srgbClr val="76B9FF"/>
                </a:solidFill>
                <a:latin typeface="Roboto Slab" pitchFamily="34" charset="0"/>
                <a:ea typeface="Roboto Slab" pitchFamily="34" charset="-122"/>
                <a:cs typeface="Roboto Slab" pitchFamily="34" charset="-120"/>
              </a:rPr>
              <a:t>Deployment Tools</a:t>
            </a:r>
            <a:endParaRPr lang="en-US" sz="1200" dirty="0"/>
          </a:p>
        </p:txBody>
      </p:sp>
      <p:pic>
        <p:nvPicPr>
          <p:cNvPr id="2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53502" y="1939230"/>
            <a:ext cx="2595001" cy="1428353"/>
          </a:xfrm>
          <a:prstGeom prst="rect">
            <a:avLst/>
          </a:prstGeom>
        </p:spPr>
      </p:pic>
      <p:sp>
        <p:nvSpPr>
          <p:cNvPr id="24" name="Text 16"/>
          <p:cNvSpPr/>
          <p:nvPr/>
        </p:nvSpPr>
        <p:spPr>
          <a:xfrm>
            <a:off x="6441021" y="2075954"/>
            <a:ext cx="2270763" cy="193774"/>
          </a:xfrm>
          <a:prstGeom prst="rect">
            <a:avLst/>
          </a:prstGeom>
          <a:noFill/>
          <a:ln/>
        </p:spPr>
        <p:txBody>
          <a:bodyPr wrap="none" lIns="0" tIns="0" rIns="0" bIns="0" rtlCol="0" anchor="t"/>
          <a:lstStyle/>
          <a:p>
            <a:pPr algn="l" indent="0" marL="0">
              <a:lnSpc>
                <a:spcPct val="104000"/>
              </a:lnSpc>
              <a:buNone/>
            </a:pPr>
            <a:r>
              <a:rPr lang="en-US" sz="1200" dirty="0">
                <a:solidFill>
                  <a:srgbClr val="D6E5EF"/>
                </a:solidFill>
                <a:latin typeface="Roboto Slab" pitchFamily="34" charset="0"/>
                <a:ea typeface="Roboto Slab" pitchFamily="34" charset="-122"/>
                <a:cs typeface="Roboto Slab" pitchFamily="34" charset="-120"/>
              </a:rPr>
              <a:t>FastAPI</a:t>
            </a:r>
            <a:endParaRPr lang="en-US" sz="1200" dirty="0"/>
          </a:p>
        </p:txBody>
      </p:sp>
      <p:sp>
        <p:nvSpPr>
          <p:cNvPr id="25" name="Text 17"/>
          <p:cNvSpPr/>
          <p:nvPr/>
        </p:nvSpPr>
        <p:spPr>
          <a:xfrm>
            <a:off x="6441021" y="2362696"/>
            <a:ext cx="2270763" cy="868164"/>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D6E5EF"/>
                </a:solidFill>
                <a:latin typeface="Roboto" pitchFamily="34" charset="0"/>
                <a:ea typeface="Roboto" pitchFamily="34" charset="-122"/>
                <a:cs typeface="Roboto" pitchFamily="34" charset="-120"/>
              </a:rPr>
              <a:t>Used to expose the model as a fast prediction API. It is more modern and performant than traditional frameworks for building lightweight, typed, and well-documented services.</a:t>
            </a:r>
            <a:endParaRPr lang="en-US" sz="950" dirty="0"/>
          </a:p>
        </p:txBody>
      </p:sp>
      <p:pic>
        <p:nvPicPr>
          <p:cNvPr id="2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941469" y="1939230"/>
            <a:ext cx="2595101" cy="1428353"/>
          </a:xfrm>
          <a:prstGeom prst="rect">
            <a:avLst/>
          </a:prstGeom>
        </p:spPr>
      </p:pic>
      <p:sp>
        <p:nvSpPr>
          <p:cNvPr id="27" name="Text 18"/>
          <p:cNvSpPr/>
          <p:nvPr/>
        </p:nvSpPr>
        <p:spPr>
          <a:xfrm>
            <a:off x="9128988" y="2075954"/>
            <a:ext cx="2270862" cy="193774"/>
          </a:xfrm>
          <a:prstGeom prst="rect">
            <a:avLst/>
          </a:prstGeom>
          <a:noFill/>
          <a:ln/>
        </p:spPr>
        <p:txBody>
          <a:bodyPr wrap="none" lIns="0" tIns="0" rIns="0" bIns="0" rtlCol="0" anchor="t"/>
          <a:lstStyle/>
          <a:p>
            <a:pPr algn="l" indent="0" marL="0">
              <a:lnSpc>
                <a:spcPct val="104000"/>
              </a:lnSpc>
              <a:buNone/>
            </a:pPr>
            <a:r>
              <a:rPr lang="en-US" sz="1200" dirty="0">
                <a:solidFill>
                  <a:srgbClr val="D6E5EF"/>
                </a:solidFill>
                <a:latin typeface="Roboto Slab" pitchFamily="34" charset="0"/>
                <a:ea typeface="Roboto Slab" pitchFamily="34" charset="-122"/>
                <a:cs typeface="Roboto Slab" pitchFamily="34" charset="-120"/>
              </a:rPr>
              <a:t>Docker</a:t>
            </a:r>
            <a:endParaRPr lang="en-US" sz="1200" dirty="0"/>
          </a:p>
        </p:txBody>
      </p:sp>
      <p:sp>
        <p:nvSpPr>
          <p:cNvPr id="28" name="Text 19"/>
          <p:cNvSpPr/>
          <p:nvPr/>
        </p:nvSpPr>
        <p:spPr>
          <a:xfrm>
            <a:off x="9128988" y="2362696"/>
            <a:ext cx="2270862" cy="868164"/>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D6E5EF"/>
                </a:solidFill>
                <a:latin typeface="Roboto" pitchFamily="34" charset="0"/>
                <a:ea typeface="Roboto" pitchFamily="34" charset="-122"/>
                <a:cs typeface="Roboto" pitchFamily="34" charset="-120"/>
              </a:rPr>
              <a:t>Packages the app and dependencies into a consistent container. It reduces environment issues compared with manual setup and makes deployment portable across systems.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468809"/>
            <a:ext cx="2011808" cy="219869"/>
          </a:xfrm>
          <a:prstGeom prst="roundRect">
            <a:avLst>
              <a:gd name="adj" fmla="val 7898"/>
            </a:avLst>
          </a:prstGeom>
          <a:noFill/>
          <a:ln w="6350">
            <a:solidFill>
              <a:srgbClr val="66A8EE"/>
            </a:solidFill>
            <a:prstDash val="solid"/>
          </a:ln>
        </p:spPr>
      </p:sp>
      <p:sp>
        <p:nvSpPr>
          <p:cNvPr id="3" name="Text 1"/>
          <p:cNvSpPr/>
          <p:nvPr/>
        </p:nvSpPr>
        <p:spPr>
          <a:xfrm>
            <a:off x="748289" y="512167"/>
            <a:ext cx="2447765" cy="133152"/>
          </a:xfrm>
          <a:prstGeom prst="rect">
            <a:avLst/>
          </a:prstGeom>
          <a:noFill/>
          <a:ln/>
        </p:spPr>
        <p:txBody>
          <a:bodyPr wrap="none" lIns="0" tIns="0" rIns="0" bIns="0" rtlCol="0" anchor="t"/>
          <a:lstStyle/>
          <a:p>
            <a:pPr algn="l" indent="0" marL="0">
              <a:lnSpc>
                <a:spcPct val="96000"/>
              </a:lnSpc>
              <a:buNone/>
            </a:pPr>
            <a:r>
              <a:rPr lang="en-US" sz="900" dirty="0">
                <a:solidFill>
                  <a:srgbClr val="66A8EE"/>
                </a:solidFill>
                <a:latin typeface="Roboto" pitchFamily="34" charset="0"/>
                <a:ea typeface="Roboto" pitchFamily="34" charset="-122"/>
                <a:cs typeface="Roboto" pitchFamily="34" charset="-120"/>
              </a:rPr>
              <a:t>PROJECT STEPS &amp; METHODOLOGY</a:t>
            </a:r>
            <a:endParaRPr lang="en-US" sz="900" dirty="0"/>
          </a:p>
        </p:txBody>
      </p:sp>
      <p:sp>
        <p:nvSpPr>
          <p:cNvPr id="4" name="Text 2"/>
          <p:cNvSpPr/>
          <p:nvPr/>
        </p:nvSpPr>
        <p:spPr>
          <a:xfrm>
            <a:off x="661475" y="739279"/>
            <a:ext cx="10868745" cy="452239"/>
          </a:xfrm>
          <a:prstGeom prst="rect">
            <a:avLst/>
          </a:prstGeom>
          <a:noFill/>
          <a:ln/>
        </p:spPr>
        <p:txBody>
          <a:bodyPr wrap="none" lIns="0" tIns="0" rIns="0" bIns="0" rtlCol="0" anchor="t"/>
          <a:lstStyle/>
          <a:p>
            <a:pPr algn="l" indent="0" marL="0">
              <a:lnSpc>
                <a:spcPct val="104000"/>
              </a:lnSpc>
              <a:buNone/>
            </a:pPr>
            <a:r>
              <a:rPr lang="en-US" sz="2800" dirty="0">
                <a:solidFill>
                  <a:srgbClr val="76B9FF"/>
                </a:solidFill>
                <a:latin typeface="Roboto Slab" pitchFamily="34" charset="0"/>
                <a:ea typeface="Roboto Slab" pitchFamily="34" charset="-122"/>
                <a:cs typeface="Roboto Slab" pitchFamily="34" charset="-120"/>
              </a:rPr>
              <a:t>Project Methodology &amp; Workflow</a:t>
            </a:r>
            <a:endParaRPr lang="en-US" sz="2800" dirty="0"/>
          </a:p>
        </p:txBody>
      </p:sp>
      <p:pic>
        <p:nvPicPr>
          <p:cNvPr id="5" name="Image 0" descr="preencoded.png">    </p:cNvPr>
          <p:cNvPicPr>
            <a:picLocks noChangeAspect="1"/>
          </p:cNvPicPr>
          <p:nvPr/>
        </p:nvPicPr>
        <p:blipFill>
          <a:blip r:embed="rId1"/>
          <a:stretch>
            <a:fillRect/>
          </a:stretch>
        </p:blipFill>
        <p:spPr>
          <a:xfrm>
            <a:off x="706221" y="1381423"/>
            <a:ext cx="10779153" cy="4648299"/>
          </a:xfrm>
          <a:prstGeom prst="rect">
            <a:avLst/>
          </a:prstGeom>
        </p:spPr>
      </p:pic>
      <p:sp>
        <p:nvSpPr>
          <p:cNvPr id="6" name="Text 3"/>
          <p:cNvSpPr/>
          <p:nvPr/>
        </p:nvSpPr>
        <p:spPr>
          <a:xfrm>
            <a:off x="1431583" y="5148230"/>
            <a:ext cx="2445408" cy="305684"/>
          </a:xfrm>
          <a:prstGeom prst="rect">
            <a:avLst/>
          </a:prstGeom>
          <a:noFill/>
          <a:ln/>
        </p:spPr>
        <p:txBody>
          <a:bodyPr wrap="none" lIns="0" tIns="0" rIns="0" bIns="0" rtlCol="0" anchor="t"/>
          <a:lstStyle/>
          <a:p>
            <a:pPr algn="l" indent="0" marL="0">
              <a:lnSpc>
                <a:spcPct val="104000"/>
              </a:lnSpc>
              <a:buNone/>
            </a:pPr>
            <a:r>
              <a:rPr lang="en-US" sz="1900" dirty="0">
                <a:solidFill>
                  <a:srgbClr val="000000"/>
                </a:solidFill>
                <a:latin typeface="Roboto Slab" pitchFamily="34" charset="0"/>
                <a:ea typeface="Roboto Slab" pitchFamily="34" charset="-122"/>
                <a:cs typeface="Roboto Slab" pitchFamily="34" charset="-120"/>
              </a:rPr>
              <a:t>Train, Eval &amp; Deploy</a:t>
            </a:r>
            <a:endParaRPr lang="en-US" sz="1900" dirty="0"/>
          </a:p>
        </p:txBody>
      </p:sp>
      <p:sp>
        <p:nvSpPr>
          <p:cNvPr id="7" name="Text 4"/>
          <p:cNvSpPr/>
          <p:nvPr/>
        </p:nvSpPr>
        <p:spPr>
          <a:xfrm>
            <a:off x="1431583" y="4072224"/>
            <a:ext cx="2901204" cy="305684"/>
          </a:xfrm>
          <a:prstGeom prst="rect">
            <a:avLst/>
          </a:prstGeom>
          <a:noFill/>
          <a:ln/>
        </p:spPr>
        <p:txBody>
          <a:bodyPr wrap="none" lIns="0" tIns="0" rIns="0" bIns="0" rtlCol="0" anchor="t"/>
          <a:lstStyle/>
          <a:p>
            <a:pPr algn="l" indent="0" marL="0">
              <a:lnSpc>
                <a:spcPct val="104000"/>
              </a:lnSpc>
              <a:buNone/>
            </a:pPr>
            <a:r>
              <a:rPr lang="en-US" sz="1900" dirty="0">
                <a:solidFill>
                  <a:srgbClr val="000000"/>
                </a:solidFill>
                <a:latin typeface="Roboto Slab" pitchFamily="34" charset="0"/>
                <a:ea typeface="Roboto Slab" pitchFamily="34" charset="-122"/>
                <a:cs typeface="Roboto Slab" pitchFamily="34" charset="-120"/>
              </a:rPr>
              <a:t>Preprocessing &amp; Features</a:t>
            </a:r>
            <a:endParaRPr lang="en-US" sz="1900" dirty="0"/>
          </a:p>
        </p:txBody>
      </p:sp>
      <p:sp>
        <p:nvSpPr>
          <p:cNvPr id="8" name="Text 5"/>
          <p:cNvSpPr/>
          <p:nvPr/>
        </p:nvSpPr>
        <p:spPr>
          <a:xfrm>
            <a:off x="1431583" y="3007087"/>
            <a:ext cx="2445408" cy="305683"/>
          </a:xfrm>
          <a:prstGeom prst="rect">
            <a:avLst/>
          </a:prstGeom>
          <a:noFill/>
          <a:ln/>
        </p:spPr>
        <p:txBody>
          <a:bodyPr wrap="none" lIns="0" tIns="0" rIns="0" bIns="0" rtlCol="0" anchor="t"/>
          <a:lstStyle/>
          <a:p>
            <a:pPr algn="l" indent="0" marL="0">
              <a:lnSpc>
                <a:spcPct val="104000"/>
              </a:lnSpc>
              <a:buNone/>
            </a:pPr>
            <a:r>
              <a:rPr lang="en-US" sz="1900" dirty="0">
                <a:solidFill>
                  <a:srgbClr val="000000"/>
                </a:solidFill>
                <a:latin typeface="Roboto Slab" pitchFamily="34" charset="0"/>
                <a:ea typeface="Roboto Slab" pitchFamily="34" charset="-122"/>
                <a:cs typeface="Roboto Slab" pitchFamily="34" charset="-120"/>
              </a:rPr>
              <a:t>Exploratory Analysis</a:t>
            </a:r>
            <a:endParaRPr lang="en-US" sz="1900" dirty="0"/>
          </a:p>
        </p:txBody>
      </p:sp>
      <p:sp>
        <p:nvSpPr>
          <p:cNvPr id="9" name="Text 6"/>
          <p:cNvSpPr/>
          <p:nvPr/>
        </p:nvSpPr>
        <p:spPr>
          <a:xfrm>
            <a:off x="1431583" y="1931081"/>
            <a:ext cx="2445408" cy="305683"/>
          </a:xfrm>
          <a:prstGeom prst="rect">
            <a:avLst/>
          </a:prstGeom>
          <a:noFill/>
          <a:ln/>
        </p:spPr>
        <p:txBody>
          <a:bodyPr wrap="none" lIns="0" tIns="0" rIns="0" bIns="0" rtlCol="0" anchor="t"/>
          <a:lstStyle/>
          <a:p>
            <a:pPr algn="l" indent="0" marL="0">
              <a:lnSpc>
                <a:spcPct val="104000"/>
              </a:lnSpc>
              <a:buNone/>
            </a:pPr>
            <a:r>
              <a:rPr lang="en-US" sz="1900" dirty="0">
                <a:solidFill>
                  <a:srgbClr val="000000"/>
                </a:solidFill>
                <a:latin typeface="Roboto Slab" pitchFamily="34" charset="0"/>
                <a:ea typeface="Roboto Slab" pitchFamily="34" charset="-122"/>
                <a:cs typeface="Roboto Slab" pitchFamily="34" charset="-120"/>
              </a:rPr>
              <a:t>Data Collection</a:t>
            </a:r>
            <a:endParaRPr lang="en-US" sz="1900" dirty="0"/>
          </a:p>
        </p:txBody>
      </p:sp>
      <p:sp>
        <p:nvSpPr>
          <p:cNvPr id="10" name="Text 7"/>
          <p:cNvSpPr/>
          <p:nvPr/>
        </p:nvSpPr>
        <p:spPr>
          <a:xfrm>
            <a:off x="661475" y="6172101"/>
            <a:ext cx="11478330" cy="217091"/>
          </a:xfrm>
          <a:prstGeom prst="rect">
            <a:avLst/>
          </a:prstGeom>
          <a:noFill/>
          <a:ln/>
        </p:spPr>
        <p:txBody>
          <a:bodyPr wrap="none" lIns="0" tIns="0" rIns="0" bIns="0" rtlCol="0" anchor="t"/>
          <a:lstStyle/>
          <a:p>
            <a:pPr algn="l" indent="0" marL="0">
              <a:lnSpc>
                <a:spcPct val="125000"/>
              </a:lnSpc>
              <a:buNone/>
            </a:pPr>
            <a:r>
              <a:rPr lang="en-US" sz="1100" dirty="0">
                <a:solidFill>
                  <a:srgbClr val="D6E5EF"/>
                </a:solidFill>
                <a:latin typeface="Roboto" pitchFamily="34" charset="0"/>
                <a:ea typeface="Roboto" pitchFamily="34" charset="-122"/>
                <a:cs typeface="Roboto" pitchFamily="34" charset="-120"/>
              </a:rPr>
              <a:t>This project follows a structured end-to-end workflow, moving from raw data preparation through model building and validation to final deployment.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454819"/>
            <a:ext cx="1033238" cy="125710"/>
          </a:xfrm>
          <a:prstGeom prst="roundRect">
            <a:avLst>
              <a:gd name="adj" fmla="val 7894"/>
            </a:avLst>
          </a:prstGeom>
          <a:noFill/>
          <a:ln w="6350">
            <a:solidFill>
              <a:srgbClr val="66A8EE"/>
            </a:solidFill>
            <a:prstDash val="solid"/>
          </a:ln>
        </p:spPr>
      </p:sp>
      <p:sp>
        <p:nvSpPr>
          <p:cNvPr id="3" name="Text 1"/>
          <p:cNvSpPr/>
          <p:nvPr/>
        </p:nvSpPr>
        <p:spPr>
          <a:xfrm>
            <a:off x="711083" y="479623"/>
            <a:ext cx="1543607" cy="76101"/>
          </a:xfrm>
          <a:prstGeom prst="rect">
            <a:avLst/>
          </a:prstGeom>
          <a:noFill/>
          <a:ln/>
        </p:spPr>
        <p:txBody>
          <a:bodyPr wrap="none" lIns="0" tIns="0" rIns="0" bIns="0" rtlCol="0" anchor="t"/>
          <a:lstStyle/>
          <a:p>
            <a:pPr algn="l" indent="0" marL="0">
              <a:lnSpc>
                <a:spcPct val="96000"/>
              </a:lnSpc>
              <a:buNone/>
            </a:pPr>
            <a:r>
              <a:rPr lang="en-US" sz="500" dirty="0">
                <a:solidFill>
                  <a:srgbClr val="66A8EE"/>
                </a:solidFill>
                <a:latin typeface="Roboto" pitchFamily="34" charset="0"/>
                <a:ea typeface="Roboto" pitchFamily="34" charset="-122"/>
                <a:cs typeface="Roboto" pitchFamily="34" charset="-120"/>
              </a:rPr>
              <a:t>EXPLORATORY DATA ANALYSIS</a:t>
            </a:r>
            <a:endParaRPr lang="en-US" sz="500" dirty="0"/>
          </a:p>
        </p:txBody>
      </p:sp>
      <p:sp>
        <p:nvSpPr>
          <p:cNvPr id="4" name="Text 2"/>
          <p:cNvSpPr/>
          <p:nvPr/>
        </p:nvSpPr>
        <p:spPr>
          <a:xfrm>
            <a:off x="661475" y="596999"/>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76B9FF"/>
                </a:solidFill>
                <a:latin typeface="Roboto Slab" pitchFamily="34" charset="0"/>
                <a:ea typeface="Roboto Slab" pitchFamily="34" charset="-122"/>
                <a:cs typeface="Roboto Slab" pitchFamily="34" charset="-120"/>
              </a:rPr>
              <a:t>Feature Analysis &amp; Correlation Insights</a:t>
            </a:r>
            <a:endParaRPr lang="en-US" sz="1600" dirty="0"/>
          </a:p>
        </p:txBody>
      </p:sp>
      <p:sp>
        <p:nvSpPr>
          <p:cNvPr id="5" name="Text 3"/>
          <p:cNvSpPr/>
          <p:nvPr/>
        </p:nvSpPr>
        <p:spPr>
          <a:xfrm>
            <a:off x="661475" y="958751"/>
            <a:ext cx="5333569" cy="129183"/>
          </a:xfrm>
          <a:prstGeom prst="rect">
            <a:avLst/>
          </a:prstGeom>
          <a:noFill/>
          <a:ln/>
        </p:spPr>
        <p:txBody>
          <a:bodyPr wrap="none" lIns="0" tIns="0" rIns="0" bIns="0" rtlCol="0" anchor="t"/>
          <a:lstStyle/>
          <a:p>
            <a:pPr algn="l" indent="0" marL="0">
              <a:lnSpc>
                <a:spcPct val="104000"/>
              </a:lnSpc>
              <a:buNone/>
            </a:pPr>
            <a:r>
              <a:rPr lang="en-US" sz="800" dirty="0">
                <a:solidFill>
                  <a:srgbClr val="76B9FF"/>
                </a:solidFill>
                <a:latin typeface="Roboto Slab" pitchFamily="34" charset="0"/>
                <a:ea typeface="Roboto Slab" pitchFamily="34" charset="-122"/>
                <a:cs typeface="Roboto Slab" pitchFamily="34" charset="-120"/>
              </a:rPr>
              <a:t>Feature Correlation with Parts Per Hour</a:t>
            </a:r>
            <a:endParaRPr lang="en-US" sz="800" dirty="0"/>
          </a:p>
        </p:txBody>
      </p:sp>
      <p:pic>
        <p:nvPicPr>
          <p:cNvPr id="6" name="Image 0" descr="preencoded.png">    </p:cNvPr>
          <p:cNvPicPr>
            <a:picLocks noChangeAspect="1"/>
          </p:cNvPicPr>
          <p:nvPr/>
        </p:nvPicPr>
        <p:blipFill>
          <a:blip r:embed="rId1"/>
          <a:stretch>
            <a:fillRect/>
          </a:stretch>
        </p:blipFill>
        <p:spPr>
          <a:xfrm>
            <a:off x="661475" y="1134368"/>
            <a:ext cx="5333569" cy="3839170"/>
          </a:xfrm>
          <a:prstGeom prst="rect">
            <a:avLst/>
          </a:prstGeom>
        </p:spPr>
      </p:pic>
      <p:sp>
        <p:nvSpPr>
          <p:cNvPr id="7" name="Text 4"/>
          <p:cNvSpPr/>
          <p:nvPr/>
        </p:nvSpPr>
        <p:spPr>
          <a:xfrm>
            <a:off x="6203001" y="958751"/>
            <a:ext cx="5333569" cy="129183"/>
          </a:xfrm>
          <a:prstGeom prst="rect">
            <a:avLst/>
          </a:prstGeom>
          <a:noFill/>
          <a:ln/>
        </p:spPr>
        <p:txBody>
          <a:bodyPr wrap="none" lIns="0" tIns="0" rIns="0" bIns="0" rtlCol="0" anchor="t"/>
          <a:lstStyle/>
          <a:p>
            <a:pPr algn="l" indent="0" marL="0">
              <a:lnSpc>
                <a:spcPct val="104000"/>
              </a:lnSpc>
              <a:buNone/>
            </a:pPr>
            <a:r>
              <a:rPr lang="en-US" sz="800" dirty="0">
                <a:solidFill>
                  <a:srgbClr val="76B9FF"/>
                </a:solidFill>
                <a:latin typeface="Roboto Slab" pitchFamily="34" charset="0"/>
                <a:ea typeface="Roboto Slab" pitchFamily="34" charset="-122"/>
                <a:cs typeface="Roboto Slab" pitchFamily="34" charset="-120"/>
              </a:rPr>
              <a:t>Cycle Time vs. Parts Per Hour</a:t>
            </a:r>
            <a:endParaRPr lang="en-US" sz="800" dirty="0"/>
          </a:p>
        </p:txBody>
      </p:sp>
      <p:pic>
        <p:nvPicPr>
          <p:cNvPr id="8" name="Image 1" descr="preencoded.png">    </p:cNvPr>
          <p:cNvPicPr>
            <a:picLocks noChangeAspect="1"/>
          </p:cNvPicPr>
          <p:nvPr/>
        </p:nvPicPr>
        <p:blipFill>
          <a:blip r:embed="rId2"/>
          <a:stretch>
            <a:fillRect/>
          </a:stretch>
        </p:blipFill>
        <p:spPr>
          <a:xfrm>
            <a:off x="6203001" y="1134368"/>
            <a:ext cx="5333569" cy="3839170"/>
          </a:xfrm>
          <a:prstGeom prst="rect">
            <a:avLst/>
          </a:prstGeom>
        </p:spPr>
      </p:pic>
      <p:sp>
        <p:nvSpPr>
          <p:cNvPr id="9" name="Text 5"/>
          <p:cNvSpPr/>
          <p:nvPr/>
        </p:nvSpPr>
        <p:spPr>
          <a:xfrm>
            <a:off x="6203001" y="5019973"/>
            <a:ext cx="5333569" cy="129183"/>
          </a:xfrm>
          <a:prstGeom prst="rect">
            <a:avLst/>
          </a:prstGeom>
          <a:noFill/>
          <a:ln/>
        </p:spPr>
        <p:txBody>
          <a:bodyPr wrap="none" lIns="0" tIns="0" rIns="0" bIns="0" rtlCol="0" anchor="t"/>
          <a:lstStyle/>
          <a:p>
            <a:pPr algn="l" indent="0" marL="0">
              <a:lnSpc>
                <a:spcPct val="104000"/>
              </a:lnSpc>
              <a:buNone/>
            </a:pPr>
            <a:r>
              <a:rPr lang="en-US" sz="800" dirty="0">
                <a:solidFill>
                  <a:srgbClr val="76B9FF"/>
                </a:solidFill>
                <a:latin typeface="Roboto Slab" pitchFamily="34" charset="0"/>
                <a:ea typeface="Roboto Slab" pitchFamily="34" charset="-122"/>
                <a:cs typeface="Roboto Slab" pitchFamily="34" charset="-120"/>
              </a:rPr>
              <a:t>Machine Utilization vs. Parts Per Hour</a:t>
            </a:r>
            <a:endParaRPr lang="en-US" sz="800" dirty="0"/>
          </a:p>
        </p:txBody>
      </p:sp>
      <p:pic>
        <p:nvPicPr>
          <p:cNvPr id="10" name="Image 2" descr="preencoded.png">    </p:cNvPr>
          <p:cNvPicPr>
            <a:picLocks noChangeAspect="1"/>
          </p:cNvPicPr>
          <p:nvPr/>
        </p:nvPicPr>
        <p:blipFill>
          <a:blip r:embed="rId3"/>
          <a:stretch>
            <a:fillRect/>
          </a:stretch>
        </p:blipFill>
        <p:spPr>
          <a:xfrm>
            <a:off x="6203001" y="5195590"/>
            <a:ext cx="5333569" cy="3839170"/>
          </a:xfrm>
          <a:prstGeom prst="rect">
            <a:avLst/>
          </a:prstGeom>
        </p:spPr>
      </p:pic>
      <p:sp>
        <p:nvSpPr>
          <p:cNvPr id="11" name="Text 6"/>
          <p:cNvSpPr/>
          <p:nvPr/>
        </p:nvSpPr>
        <p:spPr>
          <a:xfrm>
            <a:off x="661475" y="9143206"/>
            <a:ext cx="10868745" cy="206673"/>
          </a:xfrm>
          <a:prstGeom prst="rect">
            <a:avLst/>
          </a:prstGeom>
          <a:noFill/>
          <a:ln/>
        </p:spPr>
        <p:txBody>
          <a:bodyPr wrap="none" lIns="0" tIns="0" rIns="0" bIns="0" rtlCol="0" anchor="t"/>
          <a:lstStyle/>
          <a:p>
            <a:pPr algn="l" indent="0" marL="0">
              <a:lnSpc>
                <a:spcPct val="104000"/>
              </a:lnSpc>
              <a:buNone/>
            </a:pPr>
            <a:r>
              <a:rPr lang="en-US" sz="1300" dirty="0">
                <a:solidFill>
                  <a:srgbClr val="76B9FF"/>
                </a:solidFill>
                <a:latin typeface="Roboto Slab" pitchFamily="34" charset="0"/>
                <a:ea typeface="Roboto Slab" pitchFamily="34" charset="-122"/>
                <a:cs typeface="Roboto Slab" pitchFamily="34" charset="-120"/>
              </a:rPr>
              <a:t>What We Understood from the Charts</a:t>
            </a:r>
            <a:endParaRPr lang="en-US" sz="1300" dirty="0"/>
          </a:p>
        </p:txBody>
      </p:sp>
      <p:pic>
        <p:nvPicPr>
          <p:cNvPr id="12" name="Image 3"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9411891"/>
            <a:ext cx="3595399" cy="741164"/>
          </a:xfrm>
          <a:prstGeom prst="rect">
            <a:avLst/>
          </a:prstGeom>
        </p:spPr>
      </p:pic>
      <p:sp>
        <p:nvSpPr>
          <p:cNvPr id="13" name="Text 7"/>
          <p:cNvSpPr/>
          <p:nvPr/>
        </p:nvSpPr>
        <p:spPr>
          <a:xfrm>
            <a:off x="807620" y="9507240"/>
            <a:ext cx="3353907" cy="129183"/>
          </a:xfrm>
          <a:prstGeom prst="rect">
            <a:avLst/>
          </a:prstGeom>
          <a:noFill/>
          <a:ln/>
        </p:spPr>
        <p:txBody>
          <a:bodyPr wrap="none" lIns="0" tIns="0" rIns="0" bIns="0" rtlCol="0" anchor="t"/>
          <a:lstStyle/>
          <a:p>
            <a:pPr algn="l" indent="0" marL="0">
              <a:lnSpc>
                <a:spcPct val="104000"/>
              </a:lnSpc>
              <a:buNone/>
            </a:pPr>
            <a:r>
              <a:rPr lang="en-US" sz="800" dirty="0">
                <a:solidFill>
                  <a:srgbClr val="D6E5EF"/>
                </a:solidFill>
                <a:latin typeface="Roboto Slab" pitchFamily="34" charset="0"/>
                <a:ea typeface="Roboto Slab" pitchFamily="34" charset="-122"/>
                <a:cs typeface="Roboto Slab" pitchFamily="34" charset="-120"/>
              </a:rPr>
              <a:t>Key Correlations Discovered</a:t>
            </a:r>
            <a:endParaRPr lang="en-US" sz="800" dirty="0"/>
          </a:p>
        </p:txBody>
      </p:sp>
      <p:sp>
        <p:nvSpPr>
          <p:cNvPr id="14" name="Text 8"/>
          <p:cNvSpPr/>
          <p:nvPr/>
        </p:nvSpPr>
        <p:spPr>
          <a:xfrm>
            <a:off x="807620" y="9661227"/>
            <a:ext cx="3353907" cy="29735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D6E5EF"/>
                </a:solidFill>
                <a:latin typeface="Roboto" pitchFamily="34" charset="0"/>
                <a:ea typeface="Roboto" pitchFamily="34" charset="-122"/>
                <a:cs typeface="Roboto" pitchFamily="34" charset="-120"/>
              </a:rPr>
              <a:t>Machine Utilization shows the strongest positive relationship with Parts Per Hour, while Cycle Time has the strongest negative relationship. Efficiency Score and Injection Pressure also appear meaningfully associated with higher output.</a:t>
            </a:r>
            <a:endParaRPr lang="en-US" sz="650" dirty="0"/>
          </a:p>
        </p:txBody>
      </p:sp>
      <p:pic>
        <p:nvPicPr>
          <p:cNvPr id="15" name="Image 4"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98148" y="9411891"/>
            <a:ext cx="3595399" cy="741164"/>
          </a:xfrm>
          <a:prstGeom prst="rect">
            <a:avLst/>
          </a:prstGeom>
        </p:spPr>
      </p:pic>
      <p:sp>
        <p:nvSpPr>
          <p:cNvPr id="16" name="Text 9"/>
          <p:cNvSpPr/>
          <p:nvPr/>
        </p:nvSpPr>
        <p:spPr>
          <a:xfrm>
            <a:off x="4444294" y="9507240"/>
            <a:ext cx="3353907" cy="129183"/>
          </a:xfrm>
          <a:prstGeom prst="rect">
            <a:avLst/>
          </a:prstGeom>
          <a:noFill/>
          <a:ln/>
        </p:spPr>
        <p:txBody>
          <a:bodyPr wrap="none" lIns="0" tIns="0" rIns="0" bIns="0" rtlCol="0" anchor="t"/>
          <a:lstStyle/>
          <a:p>
            <a:pPr algn="l" indent="0" marL="0">
              <a:lnSpc>
                <a:spcPct val="104000"/>
              </a:lnSpc>
              <a:buNone/>
            </a:pPr>
            <a:r>
              <a:rPr lang="en-US" sz="800" dirty="0">
                <a:solidFill>
                  <a:srgbClr val="D6E5EF"/>
                </a:solidFill>
                <a:latin typeface="Roboto Slab" pitchFamily="34" charset="0"/>
                <a:ea typeface="Roboto Slab" pitchFamily="34" charset="-122"/>
                <a:cs typeface="Roboto Slab" pitchFamily="34" charset="-120"/>
              </a:rPr>
              <a:t>Feature-to-Output Relationships</a:t>
            </a:r>
            <a:endParaRPr lang="en-US" sz="800" dirty="0"/>
          </a:p>
        </p:txBody>
      </p:sp>
      <p:sp>
        <p:nvSpPr>
          <p:cNvPr id="17" name="Text 10"/>
          <p:cNvSpPr/>
          <p:nvPr/>
        </p:nvSpPr>
        <p:spPr>
          <a:xfrm>
            <a:off x="4444294" y="9661227"/>
            <a:ext cx="3353907" cy="396478"/>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D6E5EF"/>
                </a:solidFill>
                <a:latin typeface="Roboto" pitchFamily="34" charset="0"/>
                <a:ea typeface="Roboto" pitchFamily="34" charset="-122"/>
                <a:cs typeface="Roboto" pitchFamily="34" charset="-120"/>
              </a:rPr>
              <a:t>The scatter plots confirm a clear downward trend for Cycle Time as output decreases, and an upward trend for Machine Utilization as output increases. These patterns suggest output is more sensitive to operational efficiency than to slower environmental or age-related factors.</a:t>
            </a:r>
            <a:endParaRPr lang="en-US" sz="650" dirty="0"/>
          </a:p>
        </p:txBody>
      </p:sp>
      <p:pic>
        <p:nvPicPr>
          <p:cNvPr id="18"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34821" y="9411891"/>
            <a:ext cx="3595399" cy="741164"/>
          </a:xfrm>
          <a:prstGeom prst="rect">
            <a:avLst/>
          </a:prstGeom>
        </p:spPr>
      </p:pic>
      <p:sp>
        <p:nvSpPr>
          <p:cNvPr id="19" name="Text 11"/>
          <p:cNvSpPr/>
          <p:nvPr/>
        </p:nvSpPr>
        <p:spPr>
          <a:xfrm>
            <a:off x="8080967" y="9507240"/>
            <a:ext cx="3353907" cy="129183"/>
          </a:xfrm>
          <a:prstGeom prst="rect">
            <a:avLst/>
          </a:prstGeom>
          <a:noFill/>
          <a:ln/>
        </p:spPr>
        <p:txBody>
          <a:bodyPr wrap="none" lIns="0" tIns="0" rIns="0" bIns="0" rtlCol="0" anchor="t"/>
          <a:lstStyle/>
          <a:p>
            <a:pPr algn="l" indent="0" marL="0">
              <a:lnSpc>
                <a:spcPct val="104000"/>
              </a:lnSpc>
              <a:buNone/>
            </a:pPr>
            <a:r>
              <a:rPr lang="en-US" sz="800" dirty="0">
                <a:solidFill>
                  <a:srgbClr val="D6E5EF"/>
                </a:solidFill>
                <a:latin typeface="Roboto Slab" pitchFamily="34" charset="0"/>
                <a:ea typeface="Roboto Slab" pitchFamily="34" charset="-122"/>
                <a:cs typeface="Roboto Slab" pitchFamily="34" charset="-120"/>
              </a:rPr>
              <a:t>Feature Selection &amp; Model Building Insights</a:t>
            </a:r>
            <a:endParaRPr lang="en-US" sz="800" dirty="0"/>
          </a:p>
        </p:txBody>
      </p:sp>
      <p:sp>
        <p:nvSpPr>
          <p:cNvPr id="20" name="Text 12"/>
          <p:cNvSpPr/>
          <p:nvPr/>
        </p:nvSpPr>
        <p:spPr>
          <a:xfrm>
            <a:off x="8080967" y="9661227"/>
            <a:ext cx="3353907" cy="396478"/>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D6E5EF"/>
                </a:solidFill>
                <a:latin typeface="Roboto" pitchFamily="34" charset="0"/>
                <a:ea typeface="Roboto" pitchFamily="34" charset="-122"/>
                <a:cs typeface="Roboto" pitchFamily="34" charset="-120"/>
              </a:rPr>
              <a:t>These findings guided us to prioritize utilization, cycle timing, and efficiency-related variables in feature selection, while treating weaker correlations as supporting signals. This helped shape the model around the variables most likely to improve predictive performance.</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454819"/>
            <a:ext cx="600556" cy="125710"/>
          </a:xfrm>
          <a:prstGeom prst="roundRect">
            <a:avLst>
              <a:gd name="adj" fmla="val 7894"/>
            </a:avLst>
          </a:prstGeom>
          <a:noFill/>
          <a:ln w="6350">
            <a:solidFill>
              <a:srgbClr val="66A8EE"/>
            </a:solidFill>
            <a:prstDash val="solid"/>
          </a:ln>
        </p:spPr>
      </p:sp>
      <p:sp>
        <p:nvSpPr>
          <p:cNvPr id="3" name="Text 1"/>
          <p:cNvSpPr/>
          <p:nvPr/>
        </p:nvSpPr>
        <p:spPr>
          <a:xfrm>
            <a:off x="711083" y="479623"/>
            <a:ext cx="1110925" cy="76101"/>
          </a:xfrm>
          <a:prstGeom prst="rect">
            <a:avLst/>
          </a:prstGeom>
          <a:noFill/>
          <a:ln/>
        </p:spPr>
        <p:txBody>
          <a:bodyPr wrap="none" lIns="0" tIns="0" rIns="0" bIns="0" rtlCol="0" anchor="t"/>
          <a:lstStyle/>
          <a:p>
            <a:pPr algn="l" indent="0" marL="0">
              <a:lnSpc>
                <a:spcPct val="96000"/>
              </a:lnSpc>
              <a:buNone/>
            </a:pPr>
            <a:r>
              <a:rPr lang="en-US" sz="500" dirty="0">
                <a:solidFill>
                  <a:srgbClr val="66A8EE"/>
                </a:solidFill>
                <a:latin typeface="Roboto" pitchFamily="34" charset="0"/>
                <a:ea typeface="Roboto" pitchFamily="34" charset="-122"/>
                <a:cs typeface="Roboto" pitchFamily="34" charset="-120"/>
              </a:rPr>
              <a:t>MODEL RESULTS</a:t>
            </a:r>
            <a:endParaRPr lang="en-US" sz="500" dirty="0"/>
          </a:p>
        </p:txBody>
      </p:sp>
      <p:sp>
        <p:nvSpPr>
          <p:cNvPr id="4" name="Text 2"/>
          <p:cNvSpPr/>
          <p:nvPr/>
        </p:nvSpPr>
        <p:spPr>
          <a:xfrm>
            <a:off x="661475" y="596999"/>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76B9FF"/>
                </a:solidFill>
                <a:latin typeface="Roboto Slab" pitchFamily="34" charset="0"/>
                <a:ea typeface="Roboto Slab" pitchFamily="34" charset="-122"/>
                <a:cs typeface="Roboto Slab" pitchFamily="34" charset="-120"/>
              </a:rPr>
              <a:t>Linear Regression Model &amp; Performance Metrics</a:t>
            </a:r>
            <a:endParaRPr lang="en-US" sz="1600" dirty="0"/>
          </a:p>
        </p:txBody>
      </p:sp>
      <p:sp>
        <p:nvSpPr>
          <p:cNvPr id="5" name="Text 3"/>
          <p:cNvSpPr/>
          <p:nvPr/>
        </p:nvSpPr>
        <p:spPr>
          <a:xfrm>
            <a:off x="661475" y="958751"/>
            <a:ext cx="3672986" cy="129183"/>
          </a:xfrm>
          <a:prstGeom prst="rect">
            <a:avLst/>
          </a:prstGeom>
          <a:noFill/>
          <a:ln/>
        </p:spPr>
        <p:txBody>
          <a:bodyPr wrap="none" lIns="0" tIns="0" rIns="0" bIns="0" rtlCol="0" anchor="t"/>
          <a:lstStyle/>
          <a:p>
            <a:pPr algn="l" indent="0" marL="0">
              <a:lnSpc>
                <a:spcPct val="104000"/>
              </a:lnSpc>
              <a:buNone/>
            </a:pPr>
            <a:r>
              <a:rPr lang="en-US" sz="800" dirty="0">
                <a:solidFill>
                  <a:srgbClr val="76B9FF"/>
                </a:solidFill>
                <a:latin typeface="Roboto Slab" pitchFamily="34" charset="0"/>
                <a:ea typeface="Roboto Slab" pitchFamily="34" charset="-122"/>
                <a:cs typeface="Roboto Slab" pitchFamily="34" charset="-120"/>
              </a:rPr>
              <a:t>Model Summary</a:t>
            </a:r>
            <a:endParaRPr lang="en-US" sz="800" dirty="0"/>
          </a:p>
        </p:txBody>
      </p:sp>
      <p:sp>
        <p:nvSpPr>
          <p:cNvPr id="6" name="Text 4"/>
          <p:cNvSpPr/>
          <p:nvPr/>
        </p:nvSpPr>
        <p:spPr>
          <a:xfrm>
            <a:off x="661475" y="1129209"/>
            <a:ext cx="3672986"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D6E5EF"/>
                </a:solidFill>
                <a:latin typeface="Roboto" pitchFamily="34" charset="0"/>
                <a:ea typeface="Roboto" pitchFamily="34" charset="-122"/>
                <a:cs typeface="Roboto" pitchFamily="34" charset="-120"/>
              </a:rPr>
              <a:t>Linear Regression trained on 800 samples, evaluated on 200 held-out test samples. Input features include machine, material, environmental, and operational parameters.</a:t>
            </a:r>
            <a:endParaRPr lang="en-US" sz="650" dirty="0"/>
          </a:p>
        </p:txBody>
      </p:sp>
      <p:sp>
        <p:nvSpPr>
          <p:cNvPr id="7" name="Text 5"/>
          <p:cNvSpPr/>
          <p:nvPr/>
        </p:nvSpPr>
        <p:spPr>
          <a:xfrm>
            <a:off x="661475" y="1368723"/>
            <a:ext cx="3672986" cy="129183"/>
          </a:xfrm>
          <a:prstGeom prst="rect">
            <a:avLst/>
          </a:prstGeom>
          <a:noFill/>
          <a:ln/>
        </p:spPr>
        <p:txBody>
          <a:bodyPr wrap="none" lIns="0" tIns="0" rIns="0" bIns="0" rtlCol="0" anchor="t"/>
          <a:lstStyle/>
          <a:p>
            <a:pPr algn="l" indent="0" marL="0">
              <a:lnSpc>
                <a:spcPct val="104000"/>
              </a:lnSpc>
              <a:buNone/>
            </a:pPr>
            <a:r>
              <a:rPr lang="en-US" sz="800" dirty="0">
                <a:solidFill>
                  <a:srgbClr val="76B9FF"/>
                </a:solidFill>
                <a:latin typeface="Roboto Slab" pitchFamily="34" charset="0"/>
                <a:ea typeface="Roboto Slab" pitchFamily="34" charset="-122"/>
                <a:cs typeface="Roboto Slab" pitchFamily="34" charset="-120"/>
              </a:rPr>
              <a:t>Evaluation Metrics</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61475" y="1544340"/>
          <a:ext cx="9143771" cy="914400"/>
        </p:xfrm>
        <a:graphic>
          <a:graphicData uri="http://schemas.openxmlformats.org/drawingml/2006/table">
            <a:tbl>
              <a:tblPr/>
              <a:tblGrid>
                <a:gridCol w="1836493"/>
                <a:gridCol w="1836493"/>
              </a:tblGrid>
              <a:tr h="164600">
                <a:tc>
                  <a:txBody>
                    <a:bodyPr/>
                    <a:lstStyle/>
                    <a:p>
                      <a:pPr algn="l" indent="0" marL="0">
                        <a:buNone/>
                      </a:pPr>
                      <a:r>
                        <a:rPr lang="en-US" sz="800" b="1" dirty="0">
                          <a:solidFill>
                            <a:srgbClr val="FFFFFF"/>
                          </a:solidFill>
                          <a:latin typeface="Roboto" pitchFamily="34" charset="0"/>
                          <a:ea typeface="Roboto" pitchFamily="34" charset="-122"/>
                          <a:cs typeface="Roboto" pitchFamily="34" charset="-120"/>
                        </a:rPr>
                        <a:t>Metric</a:t>
                      </a:r>
                      <a:endParaRPr lang="en-US" sz="800" dirty="0">
                        <a:latin typeface="Roboto" charset="0"/>
                        <a:ea typeface="Roboto" charset="0"/>
                        <a:cs typeface="Roboto" charset="0"/>
                      </a:endParaRPr>
                    </a:p>
                  </a:txBody>
                  <a:tcPr marL="82696" marR="82696" marT="6350" marB="6350" anchor="ctr">
                    <a:lnL w="12700" cap="flat" cmpd="sng" algn="ctr">
                      <a:solidFill>
                        <a:srgbClr val="565B64"/>
                      </a:solidFill>
                      <a:prstDash val="solid"/>
                      <a:round/>
                      <a:headEnd type="none" w="med" len="med"/>
                      <a:tailEnd type="none" w="med" len="med"/>
                    </a:lnL>
                    <a:lnR w="12700" cap="flat" cmpd="sng" algn="ctr">
                      <a:solidFill>
                        <a:srgbClr val="003D82"/>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solidFill>
                      <a:srgbClr val="003D82"/>
                    </a:solidFill>
                  </a:tcPr>
                </a:tc>
                <a:tc>
                  <a:txBody>
                    <a:bodyPr/>
                    <a:lstStyle/>
                    <a:p>
                      <a:pPr algn="l" indent="0" marL="0">
                        <a:buNone/>
                      </a:pPr>
                      <a:r>
                        <a:rPr lang="en-US" sz="800" b="1" dirty="0">
                          <a:solidFill>
                            <a:srgbClr val="FFFFFF"/>
                          </a:solidFill>
                          <a:latin typeface="Roboto" pitchFamily="34" charset="0"/>
                          <a:ea typeface="Roboto" pitchFamily="34" charset="-122"/>
                          <a:cs typeface="Roboto" pitchFamily="34" charset="-120"/>
                        </a:rPr>
                        <a:t>Value</a:t>
                      </a:r>
                      <a:endParaRPr lang="en-US" sz="800" dirty="0">
                        <a:latin typeface="Roboto" charset="0"/>
                        <a:ea typeface="Roboto" charset="0"/>
                        <a:cs typeface="Roboto" charset="0"/>
                      </a:endParaRPr>
                    </a:p>
                  </a:txBody>
                  <a:tcPr marL="82696" marR="82696" marT="6350" marB="6350" anchor="ctr">
                    <a:lnL w="12700" cap="flat" cmpd="sng" algn="ctr">
                      <a:solidFill>
                        <a:srgbClr val="003D82"/>
                      </a:solidFill>
                      <a:prstDash val="solid"/>
                      <a:round/>
                      <a:headEnd type="none" w="med" len="med"/>
                      <a:tailEnd type="none" w="med" len="med"/>
                    </a:lnL>
                    <a:lnR w="12700" cap="flat" cmpd="sng" algn="ctr">
                      <a:solidFill>
                        <a:srgbClr val="565B64"/>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solidFill>
                      <a:srgbClr val="003D82"/>
                    </a:solidFill>
                  </a:tcPr>
                </a:tc>
              </a:tr>
              <a:tr h="167775">
                <a:tc>
                  <a:txBody>
                    <a:bodyPr/>
                    <a:lstStyle/>
                    <a:p>
                      <a:pPr algn="l" indent="0" marL="0">
                        <a:buNone/>
                      </a:pPr>
                      <a:r>
                        <a:rPr lang="en-US" sz="800" dirty="0">
                          <a:solidFill>
                            <a:srgbClr val="D6E5EF"/>
                          </a:solidFill>
                          <a:latin typeface="Roboto" pitchFamily="34" charset="0"/>
                          <a:ea typeface="Roboto" pitchFamily="34" charset="-122"/>
                          <a:cs typeface="Roboto" pitchFamily="34" charset="-120"/>
                        </a:rPr>
                        <a:t>Mean Absolute Error (MAE)</a:t>
                      </a:r>
                      <a:endParaRPr lang="en-US" sz="800" dirty="0">
                        <a:latin typeface="Roboto" charset="0"/>
                        <a:ea typeface="Roboto" charset="0"/>
                        <a:cs typeface="Roboto" charset="0"/>
                      </a:endParaRPr>
                    </a:p>
                  </a:txBody>
                  <a:tcPr marL="82696" marR="82696" marT="6350" marB="6350" anchor="ctr">
                    <a:lnL w="12700" cap="flat" cmpd="sng" algn="ctr">
                      <a:solidFill>
                        <a:srgbClr val="565B64"/>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c>
                  <a:txBody>
                    <a:bodyPr/>
                    <a:lstStyle/>
                    <a:p>
                      <a:pPr algn="l" indent="0" marL="0">
                        <a:buNone/>
                      </a:pPr>
                      <a:r>
                        <a:rPr lang="en-US" sz="800" dirty="0">
                          <a:solidFill>
                            <a:srgbClr val="D6E5EF"/>
                          </a:solidFill>
                          <a:latin typeface="Roboto" pitchFamily="34" charset="0"/>
                          <a:ea typeface="Roboto" pitchFamily="34" charset="-122"/>
                          <a:cs typeface="Roboto" pitchFamily="34" charset="-120"/>
                        </a:rPr>
                        <a:t>[Actual Value]</a:t>
                      </a:r>
                      <a:endParaRPr lang="en-US" sz="800" dirty="0">
                        <a:latin typeface="Roboto" charset="0"/>
                        <a:ea typeface="Roboto" charset="0"/>
                        <a:cs typeface="Roboto" charset="0"/>
                      </a:endParaRPr>
                    </a:p>
                  </a:txBody>
                  <a:tcPr marL="82696" marR="82696" marT="6350" marB="6350" anchor="ctr">
                    <a:lnL w="12700" cap="flat" cmpd="sng" algn="ctr">
                      <a:solidFill>
                        <a:srgbClr val="202733"/>
                      </a:solidFill>
                      <a:prstDash val="solid"/>
                      <a:round/>
                      <a:headEnd type="none" w="med" len="med"/>
                      <a:tailEnd type="none" w="med" len="med"/>
                    </a:lnL>
                    <a:lnR w="12700" cap="flat" cmpd="sng" algn="ctr">
                      <a:solidFill>
                        <a:srgbClr val="565B64"/>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r>
              <a:tr h="167775">
                <a:tc>
                  <a:txBody>
                    <a:bodyPr/>
                    <a:lstStyle/>
                    <a:p>
                      <a:pPr algn="l" indent="0" marL="0">
                        <a:buNone/>
                      </a:pPr>
                      <a:r>
                        <a:rPr lang="en-US" sz="800" dirty="0">
                          <a:solidFill>
                            <a:srgbClr val="D6E5EF"/>
                          </a:solidFill>
                          <a:latin typeface="Roboto" pitchFamily="34" charset="0"/>
                          <a:ea typeface="Roboto" pitchFamily="34" charset="-122"/>
                          <a:cs typeface="Roboto" pitchFamily="34" charset="-120"/>
                        </a:rPr>
                        <a:t>Mean Squared Error (MSE)</a:t>
                      </a:r>
                      <a:endParaRPr lang="en-US" sz="800" dirty="0">
                        <a:latin typeface="Roboto" charset="0"/>
                        <a:ea typeface="Roboto" charset="0"/>
                        <a:cs typeface="Roboto" charset="0"/>
                      </a:endParaRPr>
                    </a:p>
                  </a:txBody>
                  <a:tcPr marL="82696" marR="82696" marT="6350" marB="6350" anchor="ctr">
                    <a:lnL w="12700" cap="flat" cmpd="sng" algn="ctr">
                      <a:solidFill>
                        <a:srgbClr val="565B64"/>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c>
                  <a:txBody>
                    <a:bodyPr/>
                    <a:lstStyle/>
                    <a:p>
                      <a:pPr algn="l" indent="0" marL="0">
                        <a:buNone/>
                      </a:pPr>
                      <a:r>
                        <a:rPr lang="en-US" sz="800" dirty="0">
                          <a:solidFill>
                            <a:srgbClr val="D6E5EF"/>
                          </a:solidFill>
                          <a:latin typeface="Roboto" pitchFamily="34" charset="0"/>
                          <a:ea typeface="Roboto" pitchFamily="34" charset="-122"/>
                          <a:cs typeface="Roboto" pitchFamily="34" charset="-120"/>
                        </a:rPr>
                        <a:t>[Actual Value]</a:t>
                      </a:r>
                      <a:endParaRPr lang="en-US" sz="800" dirty="0">
                        <a:latin typeface="Roboto" charset="0"/>
                        <a:ea typeface="Roboto" charset="0"/>
                        <a:cs typeface="Roboto" charset="0"/>
                      </a:endParaRPr>
                    </a:p>
                  </a:txBody>
                  <a:tcPr marL="82696" marR="82696" marT="6350" marB="6350" anchor="ctr">
                    <a:lnL w="12700" cap="flat" cmpd="sng" algn="ctr">
                      <a:solidFill>
                        <a:srgbClr val="202733"/>
                      </a:solidFill>
                      <a:prstDash val="solid"/>
                      <a:round/>
                      <a:headEnd type="none" w="med" len="med"/>
                      <a:tailEnd type="none" w="med" len="med"/>
                    </a:lnL>
                    <a:lnR w="12700" cap="flat" cmpd="sng" algn="ctr">
                      <a:solidFill>
                        <a:srgbClr val="565B64"/>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r>
              <a:tr h="167775">
                <a:tc>
                  <a:txBody>
                    <a:bodyPr/>
                    <a:lstStyle/>
                    <a:p>
                      <a:pPr algn="l" indent="0" marL="0">
                        <a:buNone/>
                      </a:pPr>
                      <a:r>
                        <a:rPr lang="en-US" sz="800" dirty="0">
                          <a:solidFill>
                            <a:srgbClr val="D6E5EF"/>
                          </a:solidFill>
                          <a:latin typeface="Roboto" pitchFamily="34" charset="0"/>
                          <a:ea typeface="Roboto" pitchFamily="34" charset="-122"/>
                          <a:cs typeface="Roboto" pitchFamily="34" charset="-120"/>
                        </a:rPr>
                        <a:t>Root Mean Squared Error (RMSE)</a:t>
                      </a:r>
                      <a:endParaRPr lang="en-US" sz="800" dirty="0">
                        <a:latin typeface="Roboto" charset="0"/>
                        <a:ea typeface="Roboto" charset="0"/>
                        <a:cs typeface="Roboto" charset="0"/>
                      </a:endParaRPr>
                    </a:p>
                  </a:txBody>
                  <a:tcPr marL="82696" marR="82696" marT="6350" marB="6350" anchor="ctr">
                    <a:lnL w="12700" cap="flat" cmpd="sng" algn="ctr">
                      <a:solidFill>
                        <a:srgbClr val="565B64"/>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c>
                  <a:txBody>
                    <a:bodyPr/>
                    <a:lstStyle/>
                    <a:p>
                      <a:pPr algn="l" indent="0" marL="0">
                        <a:buNone/>
                      </a:pPr>
                      <a:r>
                        <a:rPr lang="en-US" sz="800" dirty="0">
                          <a:solidFill>
                            <a:srgbClr val="D6E5EF"/>
                          </a:solidFill>
                          <a:latin typeface="Roboto" pitchFamily="34" charset="0"/>
                          <a:ea typeface="Roboto" pitchFamily="34" charset="-122"/>
                          <a:cs typeface="Roboto" pitchFamily="34" charset="-120"/>
                        </a:rPr>
                        <a:t>[Actual Value]</a:t>
                      </a:r>
                      <a:endParaRPr lang="en-US" sz="800" dirty="0">
                        <a:latin typeface="Roboto" charset="0"/>
                        <a:ea typeface="Roboto" charset="0"/>
                        <a:cs typeface="Roboto" charset="0"/>
                      </a:endParaRPr>
                    </a:p>
                  </a:txBody>
                  <a:tcPr marL="82696" marR="82696" marT="6350" marB="6350" anchor="ctr">
                    <a:lnL w="12700" cap="flat" cmpd="sng" algn="ctr">
                      <a:solidFill>
                        <a:srgbClr val="202733"/>
                      </a:solidFill>
                      <a:prstDash val="solid"/>
                      <a:round/>
                      <a:headEnd type="none" w="med" len="med"/>
                      <a:tailEnd type="none" w="med" len="med"/>
                    </a:lnL>
                    <a:lnR w="12700" cap="flat" cmpd="sng" algn="ctr">
                      <a:solidFill>
                        <a:srgbClr val="565B64"/>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r>
              <a:tr h="164600">
                <a:tc>
                  <a:txBody>
                    <a:bodyPr/>
                    <a:lstStyle/>
                    <a:p>
                      <a:pPr algn="l" indent="0" marL="0">
                        <a:buNone/>
                      </a:pPr>
                      <a:r>
                        <a:rPr lang="en-US" sz="800" b="1" dirty="0">
                          <a:solidFill>
                            <a:srgbClr val="D6E5EF"/>
                          </a:solidFill>
                          <a:latin typeface="Roboto" pitchFamily="34" charset="0"/>
                          <a:ea typeface="Roboto" pitchFamily="34" charset="-122"/>
                          <a:cs typeface="Roboto" pitchFamily="34" charset="-120"/>
                        </a:rPr>
                        <a:t>R² Score</a:t>
                      </a:r>
                      <a:endParaRPr lang="en-US" sz="800" dirty="0">
                        <a:latin typeface="Roboto" charset="0"/>
                        <a:ea typeface="Roboto" charset="0"/>
                        <a:cs typeface="Roboto" charset="0"/>
                      </a:endParaRPr>
                    </a:p>
                  </a:txBody>
                  <a:tcPr marL="82696" marR="82696" marT="6350" marB="6350" anchor="ctr">
                    <a:lnL w="12700" cap="flat" cmpd="sng" algn="ctr">
                      <a:solidFill>
                        <a:srgbClr val="565B64"/>
                      </a:solidFill>
                      <a:prstDash val="solid"/>
                      <a:round/>
                      <a:headEnd type="none" w="med" len="med"/>
                      <a:tailEnd type="none" w="med" len="med"/>
                    </a:lnL>
                    <a:lnR w="12700" cap="flat" cmpd="sng" algn="ctr">
                      <a:solidFill>
                        <a:srgbClr val="202733"/>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c>
                  <a:txBody>
                    <a:bodyPr/>
                    <a:lstStyle/>
                    <a:p>
                      <a:pPr algn="l" indent="0" marL="0">
                        <a:buNone/>
                      </a:pPr>
                      <a:r>
                        <a:rPr lang="en-US" sz="800" b="1" dirty="0">
                          <a:solidFill>
                            <a:srgbClr val="D6E5EF"/>
                          </a:solidFill>
                          <a:latin typeface="Roboto" pitchFamily="34" charset="0"/>
                          <a:ea typeface="Roboto" pitchFamily="34" charset="-122"/>
                          <a:cs typeface="Roboto" pitchFamily="34" charset="-120"/>
                        </a:rPr>
                        <a:t>[Actual Value]</a:t>
                      </a:r>
                      <a:endParaRPr lang="en-US" sz="800" dirty="0">
                        <a:latin typeface="Roboto" charset="0"/>
                        <a:ea typeface="Roboto" charset="0"/>
                        <a:cs typeface="Roboto" charset="0"/>
                      </a:endParaRPr>
                    </a:p>
                  </a:txBody>
                  <a:tcPr marL="82696" marR="82696" marT="6350" marB="6350" anchor="ctr">
                    <a:lnL w="12700" cap="flat" cmpd="sng" algn="ctr">
                      <a:solidFill>
                        <a:srgbClr val="202733"/>
                      </a:solidFill>
                      <a:prstDash val="solid"/>
                      <a:round/>
                      <a:headEnd type="none" w="med" len="med"/>
                      <a:tailEnd type="none" w="med" len="med"/>
                    </a:lnL>
                    <a:lnR w="12700" cap="flat" cmpd="sng" algn="ctr">
                      <a:solidFill>
                        <a:srgbClr val="565B64"/>
                      </a:solidFill>
                      <a:prstDash val="solid"/>
                      <a:round/>
                      <a:headEnd type="none" w="med" len="med"/>
                      <a:tailEnd type="none" w="med" len="med"/>
                    </a:lnR>
                    <a:lnT w="12700" cap="flat" cmpd="sng" algn="ctr">
                      <a:solidFill>
                        <a:srgbClr val="565B64"/>
                      </a:solidFill>
                      <a:prstDash val="solid"/>
                      <a:round/>
                      <a:headEnd type="none" w="med" len="med"/>
                      <a:tailEnd type="none" w="med" len="med"/>
                    </a:lnT>
                    <a:lnB w="12700" cap="flat" cmpd="sng" algn="ctr">
                      <a:solidFill>
                        <a:srgbClr val="565B64"/>
                      </a:solidFill>
                      <a:prstDash val="solid"/>
                      <a:round/>
                      <a:headEnd type="none" w="med" len="med"/>
                      <a:tailEnd type="none" w="med" len="med"/>
                    </a:lnB>
                  </a:tcPr>
                </a:tc>
              </a:tr>
            </a:tbl>
          </a:graphicData>
        </a:graphic>
      </p:graphicFrame>
      <p:sp>
        <p:nvSpPr>
          <p:cNvPr id="9" name="Shape 6"/>
          <p:cNvSpPr/>
          <p:nvPr/>
        </p:nvSpPr>
        <p:spPr>
          <a:xfrm>
            <a:off x="661475" y="2436019"/>
            <a:ext cx="3672986" cy="313928"/>
          </a:xfrm>
          <a:prstGeom prst="roundRect">
            <a:avLst>
              <a:gd name="adj" fmla="val 3951"/>
            </a:avLst>
          </a:prstGeom>
          <a:solidFill>
            <a:srgbClr val="0D3E73"/>
          </a:solidFill>
          <a:ln/>
        </p:spPr>
      </p:sp>
      <p:pic>
        <p:nvPicPr>
          <p:cNvPr id="10" name="Image 0" descr="preencoded.png">    </p:cNvPr>
          <p:cNvPicPr>
            <a:picLocks noChangeAspect="1"/>
          </p:cNvPicPr>
          <p:nvPr/>
        </p:nvPicPr>
        <p:blipFill>
          <a:blip r:embed="rId1"/>
          <a:stretch>
            <a:fillRect/>
          </a:stretch>
        </p:blipFill>
        <p:spPr>
          <a:xfrm>
            <a:off x="744122" y="2501801"/>
            <a:ext cx="103284" cy="82649"/>
          </a:xfrm>
          <a:prstGeom prst="rect">
            <a:avLst/>
          </a:prstGeom>
        </p:spPr>
      </p:pic>
      <p:sp>
        <p:nvSpPr>
          <p:cNvPr id="11" name="Text 7"/>
          <p:cNvSpPr/>
          <p:nvPr/>
        </p:nvSpPr>
        <p:spPr>
          <a:xfrm>
            <a:off x="930053" y="2493863"/>
            <a:ext cx="3321761"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FFFFFF"/>
                </a:solidFill>
                <a:latin typeface="Roboto" pitchFamily="34" charset="0"/>
                <a:ea typeface="Roboto" pitchFamily="34" charset="-122"/>
                <a:cs typeface="Roboto" pitchFamily="34" charset="-120"/>
              </a:rPr>
              <a:t>Replace all bracketed placeholders with values from your model's test-set evaluation output.</a:t>
            </a:r>
            <a:endParaRPr lang="en-US" sz="650" dirty="0"/>
          </a:p>
        </p:txBody>
      </p:sp>
      <p:sp>
        <p:nvSpPr>
          <p:cNvPr id="12" name="Text 8"/>
          <p:cNvSpPr/>
          <p:nvPr/>
        </p:nvSpPr>
        <p:spPr>
          <a:xfrm>
            <a:off x="4542418" y="958751"/>
            <a:ext cx="6994052" cy="129183"/>
          </a:xfrm>
          <a:prstGeom prst="rect">
            <a:avLst/>
          </a:prstGeom>
          <a:noFill/>
          <a:ln/>
        </p:spPr>
        <p:txBody>
          <a:bodyPr wrap="none" lIns="0" tIns="0" rIns="0" bIns="0" rtlCol="0" anchor="t"/>
          <a:lstStyle/>
          <a:p>
            <a:pPr algn="l" indent="0" marL="0">
              <a:lnSpc>
                <a:spcPct val="104000"/>
              </a:lnSpc>
              <a:buNone/>
            </a:pPr>
            <a:r>
              <a:rPr lang="en-US" sz="800" dirty="0">
                <a:solidFill>
                  <a:srgbClr val="76B9FF"/>
                </a:solidFill>
                <a:latin typeface="Roboto Slab" pitchFamily="34" charset="0"/>
                <a:ea typeface="Roboto Slab" pitchFamily="34" charset="-122"/>
                <a:cs typeface="Roboto Slab" pitchFamily="34" charset="-120"/>
              </a:rPr>
              <a:t>Actual vs. Predicted Parts Per Hour</a:t>
            </a:r>
            <a:endParaRPr lang="en-US" sz="800" dirty="0"/>
          </a:p>
        </p:txBody>
      </p:sp>
      <p:pic>
        <p:nvPicPr>
          <p:cNvPr id="13" name="Image 1" descr="preencoded.png">    </p:cNvPr>
          <p:cNvPicPr>
            <a:picLocks noChangeAspect="1"/>
          </p:cNvPicPr>
          <p:nvPr/>
        </p:nvPicPr>
        <p:blipFill>
          <a:blip r:embed="rId2"/>
          <a:stretch>
            <a:fillRect/>
          </a:stretch>
        </p:blipFill>
        <p:spPr>
          <a:xfrm>
            <a:off x="4542418" y="1134368"/>
            <a:ext cx="6994052" cy="4415532"/>
          </a:xfrm>
          <a:prstGeom prst="rect">
            <a:avLst/>
          </a:prstGeom>
        </p:spPr>
      </p:pic>
      <p:sp>
        <p:nvSpPr>
          <p:cNvPr id="14" name="Text 9"/>
          <p:cNvSpPr/>
          <p:nvPr/>
        </p:nvSpPr>
        <p:spPr>
          <a:xfrm>
            <a:off x="4542418" y="5596334"/>
            <a:ext cx="6994052"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D6E5EF"/>
                </a:solidFill>
                <a:latin typeface="Roboto" pitchFamily="34" charset="0"/>
                <a:ea typeface="Roboto" pitchFamily="34" charset="-122"/>
                <a:cs typeface="Roboto" pitchFamily="34" charset="-120"/>
              </a:rPr>
              <a:t>Points clustering tightly along the diagonal (Actual = Predicted) indicate strong model fit. Deviations from the diagonal represent prediction error. Replace chart with actual test-set output values before final submission.</a:t>
            </a:r>
            <a:endParaRPr lang="en-US" sz="650" dirty="0"/>
          </a:p>
        </p:txBody>
      </p:sp>
      <p:sp>
        <p:nvSpPr>
          <p:cNvPr id="15" name="Text 10"/>
          <p:cNvSpPr/>
          <p:nvPr/>
        </p:nvSpPr>
        <p:spPr>
          <a:xfrm>
            <a:off x="661475" y="5893792"/>
            <a:ext cx="10868745" cy="129183"/>
          </a:xfrm>
          <a:prstGeom prst="rect">
            <a:avLst/>
          </a:prstGeom>
          <a:noFill/>
          <a:ln/>
        </p:spPr>
        <p:txBody>
          <a:bodyPr wrap="none" lIns="0" tIns="0" rIns="0" bIns="0" rtlCol="0" anchor="t"/>
          <a:lstStyle/>
          <a:p>
            <a:pPr algn="l" indent="0" marL="0">
              <a:lnSpc>
                <a:spcPct val="104000"/>
              </a:lnSpc>
              <a:buNone/>
            </a:pPr>
            <a:r>
              <a:rPr lang="en-US" sz="800" dirty="0">
                <a:solidFill>
                  <a:srgbClr val="76B9FF"/>
                </a:solidFill>
                <a:latin typeface="Roboto Slab" pitchFamily="34" charset="0"/>
                <a:ea typeface="Roboto Slab" pitchFamily="34" charset="-122"/>
                <a:cs typeface="Roboto Slab" pitchFamily="34" charset="-120"/>
              </a:rPr>
              <a:t>Interpretation</a:t>
            </a:r>
            <a:endParaRPr lang="en-US" sz="800" dirty="0"/>
          </a:p>
        </p:txBody>
      </p:sp>
      <p:sp>
        <p:nvSpPr>
          <p:cNvPr id="16" name="Text 11"/>
          <p:cNvSpPr/>
          <p:nvPr/>
        </p:nvSpPr>
        <p:spPr>
          <a:xfrm>
            <a:off x="661475" y="6126262"/>
            <a:ext cx="3451536" cy="129183"/>
          </a:xfrm>
          <a:prstGeom prst="rect">
            <a:avLst/>
          </a:prstGeom>
          <a:noFill/>
          <a:ln/>
        </p:spPr>
        <p:txBody>
          <a:bodyPr wrap="none" lIns="0" tIns="0" rIns="0" bIns="0" rtlCol="0" anchor="t"/>
          <a:lstStyle/>
          <a:p>
            <a:pPr algn="l" indent="0" marL="0">
              <a:lnSpc>
                <a:spcPct val="104000"/>
              </a:lnSpc>
              <a:buNone/>
            </a:pPr>
            <a:r>
              <a:rPr lang="en-US" sz="800" dirty="0">
                <a:solidFill>
                  <a:srgbClr val="76B9FF"/>
                </a:solidFill>
                <a:latin typeface="Roboto Slab" pitchFamily="34" charset="0"/>
                <a:ea typeface="Roboto Slab" pitchFamily="34" charset="-122"/>
                <a:cs typeface="Roboto Slab" pitchFamily="34" charset="-120"/>
              </a:rPr>
              <a:t>R² Score</a:t>
            </a:r>
            <a:endParaRPr lang="en-US" sz="800" dirty="0"/>
          </a:p>
        </p:txBody>
      </p:sp>
      <p:sp>
        <p:nvSpPr>
          <p:cNvPr id="17" name="Text 12"/>
          <p:cNvSpPr/>
          <p:nvPr/>
        </p:nvSpPr>
        <p:spPr>
          <a:xfrm>
            <a:off x="661475" y="6296720"/>
            <a:ext cx="3451536" cy="29735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D6E5EF"/>
                </a:solidFill>
                <a:latin typeface="Roboto" pitchFamily="34" charset="0"/>
                <a:ea typeface="Roboto" pitchFamily="34" charset="-122"/>
                <a:cs typeface="Roboto" pitchFamily="34" charset="-120"/>
              </a:rPr>
              <a:t>The R² score shows how much of the variation in parts per hour is explained by the model. A value closer to 1 means the model explains more of the outcome, while a value near 0 means limited explanatory power.</a:t>
            </a:r>
            <a:endParaRPr lang="en-US" sz="650" dirty="0"/>
          </a:p>
        </p:txBody>
      </p:sp>
      <p:sp>
        <p:nvSpPr>
          <p:cNvPr id="18" name="Text 13"/>
          <p:cNvSpPr/>
          <p:nvPr/>
        </p:nvSpPr>
        <p:spPr>
          <a:xfrm>
            <a:off x="4320968" y="6126262"/>
            <a:ext cx="3451536" cy="129183"/>
          </a:xfrm>
          <a:prstGeom prst="rect">
            <a:avLst/>
          </a:prstGeom>
          <a:noFill/>
          <a:ln/>
        </p:spPr>
        <p:txBody>
          <a:bodyPr wrap="none" lIns="0" tIns="0" rIns="0" bIns="0" rtlCol="0" anchor="t"/>
          <a:lstStyle/>
          <a:p>
            <a:pPr algn="l" indent="0" marL="0">
              <a:lnSpc>
                <a:spcPct val="104000"/>
              </a:lnSpc>
              <a:buNone/>
            </a:pPr>
            <a:r>
              <a:rPr lang="en-US" sz="800" dirty="0">
                <a:solidFill>
                  <a:srgbClr val="76B9FF"/>
                </a:solidFill>
                <a:latin typeface="Roboto Slab" pitchFamily="34" charset="0"/>
                <a:ea typeface="Roboto Slab" pitchFamily="34" charset="-122"/>
                <a:cs typeface="Roboto Slab" pitchFamily="34" charset="-120"/>
              </a:rPr>
              <a:t>MAE and RMSE</a:t>
            </a:r>
            <a:endParaRPr lang="en-US" sz="800" dirty="0"/>
          </a:p>
        </p:txBody>
      </p:sp>
      <p:sp>
        <p:nvSpPr>
          <p:cNvPr id="19" name="Text 14"/>
          <p:cNvSpPr/>
          <p:nvPr/>
        </p:nvSpPr>
        <p:spPr>
          <a:xfrm>
            <a:off x="4320968" y="6296720"/>
            <a:ext cx="3451536"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D6E5EF"/>
                </a:solidFill>
                <a:latin typeface="Roboto" pitchFamily="34" charset="0"/>
                <a:ea typeface="Roboto" pitchFamily="34" charset="-122"/>
                <a:cs typeface="Roboto" pitchFamily="34" charset="-120"/>
              </a:rPr>
              <a:t>MAE shows the average size of prediction errors in parts per hour, while RMSE penalizes larger errors more heavily. Lower values for both indicate better prediction accuracy.</a:t>
            </a:r>
            <a:endParaRPr lang="en-US" sz="650" dirty="0"/>
          </a:p>
        </p:txBody>
      </p:sp>
      <p:sp>
        <p:nvSpPr>
          <p:cNvPr id="20" name="Text 15"/>
          <p:cNvSpPr/>
          <p:nvPr/>
        </p:nvSpPr>
        <p:spPr>
          <a:xfrm>
            <a:off x="7980461" y="6126262"/>
            <a:ext cx="3562261" cy="129183"/>
          </a:xfrm>
          <a:prstGeom prst="rect">
            <a:avLst/>
          </a:prstGeom>
          <a:noFill/>
          <a:ln/>
        </p:spPr>
        <p:txBody>
          <a:bodyPr wrap="none" lIns="0" tIns="0" rIns="0" bIns="0" rtlCol="0" anchor="t"/>
          <a:lstStyle/>
          <a:p>
            <a:pPr algn="l" indent="0" marL="0">
              <a:lnSpc>
                <a:spcPct val="104000"/>
              </a:lnSpc>
              <a:buNone/>
            </a:pPr>
            <a:r>
              <a:rPr lang="en-US" sz="800" dirty="0">
                <a:solidFill>
                  <a:srgbClr val="76B9FF"/>
                </a:solidFill>
                <a:latin typeface="Roboto Slab" pitchFamily="34" charset="0"/>
                <a:ea typeface="Roboto Slab" pitchFamily="34" charset="-122"/>
                <a:cs typeface="Roboto Slab" pitchFamily="34" charset="-120"/>
              </a:rPr>
              <a:t>Scatter Plot Fit</a:t>
            </a:r>
            <a:endParaRPr lang="en-US" sz="800" dirty="0"/>
          </a:p>
        </p:txBody>
      </p:sp>
      <p:sp>
        <p:nvSpPr>
          <p:cNvPr id="21" name="Text 16"/>
          <p:cNvSpPr/>
          <p:nvPr/>
        </p:nvSpPr>
        <p:spPr>
          <a:xfrm>
            <a:off x="7980461" y="6296720"/>
            <a:ext cx="3562261"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D6E5EF"/>
                </a:solidFill>
                <a:latin typeface="Roboto" pitchFamily="34" charset="0"/>
                <a:ea typeface="Roboto" pitchFamily="34" charset="-122"/>
                <a:cs typeface="Roboto" pitchFamily="34" charset="-120"/>
              </a:rPr>
              <a:t>If the points cluster tightly around the diagonal, the model is performing well with small residuals. Wider scatter around the line would indicate weaker predictions and higher error.</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454819"/>
            <a:ext cx="997719" cy="125710"/>
          </a:xfrm>
          <a:prstGeom prst="roundRect">
            <a:avLst>
              <a:gd name="adj" fmla="val 7894"/>
            </a:avLst>
          </a:prstGeom>
          <a:noFill/>
          <a:ln w="6350">
            <a:solidFill>
              <a:srgbClr val="66A8EE"/>
            </a:solidFill>
            <a:prstDash val="solid"/>
          </a:ln>
        </p:spPr>
      </p:sp>
      <p:sp>
        <p:nvSpPr>
          <p:cNvPr id="3" name="Text 1"/>
          <p:cNvSpPr/>
          <p:nvPr/>
        </p:nvSpPr>
        <p:spPr>
          <a:xfrm>
            <a:off x="711083" y="479623"/>
            <a:ext cx="1508087" cy="76101"/>
          </a:xfrm>
          <a:prstGeom prst="rect">
            <a:avLst/>
          </a:prstGeom>
          <a:noFill/>
          <a:ln/>
        </p:spPr>
        <p:txBody>
          <a:bodyPr wrap="none" lIns="0" tIns="0" rIns="0" bIns="0" rtlCol="0" anchor="t"/>
          <a:lstStyle/>
          <a:p>
            <a:pPr algn="l" indent="0" marL="0">
              <a:lnSpc>
                <a:spcPct val="96000"/>
              </a:lnSpc>
              <a:buNone/>
            </a:pPr>
            <a:r>
              <a:rPr lang="en-US" sz="500" dirty="0">
                <a:solidFill>
                  <a:srgbClr val="66A8EE"/>
                </a:solidFill>
                <a:latin typeface="Roboto" pitchFamily="34" charset="0"/>
                <a:ea typeface="Roboto" pitchFamily="34" charset="-122"/>
                <a:cs typeface="Roboto" pitchFamily="34" charset="-120"/>
              </a:rPr>
              <a:t>DEPLOYMENT &amp; CONCLUSION</a:t>
            </a:r>
            <a:endParaRPr lang="en-US" sz="500" dirty="0"/>
          </a:p>
        </p:txBody>
      </p:sp>
      <p:sp>
        <p:nvSpPr>
          <p:cNvPr id="4" name="Text 2"/>
          <p:cNvSpPr/>
          <p:nvPr/>
        </p:nvSpPr>
        <p:spPr>
          <a:xfrm>
            <a:off x="661475" y="596999"/>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76B9FF"/>
                </a:solidFill>
                <a:latin typeface="Roboto Slab" pitchFamily="34" charset="0"/>
                <a:ea typeface="Roboto Slab" pitchFamily="34" charset="-122"/>
                <a:cs typeface="Roboto Slab" pitchFamily="34" charset="-120"/>
              </a:rPr>
              <a:t>Deployment Architecture, Business Impact &amp; Future Scope</a:t>
            </a:r>
            <a:endParaRPr lang="en-US" sz="1600" dirty="0"/>
          </a:p>
        </p:txBody>
      </p:sp>
      <p:sp>
        <p:nvSpPr>
          <p:cNvPr id="5" name="Text 3"/>
          <p:cNvSpPr/>
          <p:nvPr/>
        </p:nvSpPr>
        <p:spPr>
          <a:xfrm>
            <a:off x="661475" y="958751"/>
            <a:ext cx="6440525" cy="129183"/>
          </a:xfrm>
          <a:prstGeom prst="rect">
            <a:avLst/>
          </a:prstGeom>
          <a:noFill/>
          <a:ln/>
        </p:spPr>
        <p:txBody>
          <a:bodyPr wrap="none" lIns="0" tIns="0" rIns="0" bIns="0" rtlCol="0" anchor="t"/>
          <a:lstStyle/>
          <a:p>
            <a:pPr algn="l" indent="0" marL="0">
              <a:lnSpc>
                <a:spcPct val="104000"/>
              </a:lnSpc>
              <a:buNone/>
            </a:pPr>
            <a:r>
              <a:rPr lang="en-US" sz="800" dirty="0">
                <a:solidFill>
                  <a:srgbClr val="76B9FF"/>
                </a:solidFill>
                <a:latin typeface="Roboto Slab" pitchFamily="34" charset="0"/>
                <a:ea typeface="Roboto Slab" pitchFamily="34" charset="-122"/>
                <a:cs typeface="Roboto Slab" pitchFamily="34" charset="-120"/>
              </a:rPr>
              <a:t>Deployment Architecture</a:t>
            </a:r>
            <a:endParaRPr lang="en-US" sz="800" dirty="0"/>
          </a:p>
        </p:txBody>
      </p:sp>
      <p:pic>
        <p:nvPicPr>
          <p:cNvPr id="6" name="Image 0" descr="preencoded.png">    </p:cNvPr>
          <p:cNvPicPr>
            <a:picLocks noChangeAspect="1"/>
          </p:cNvPicPr>
          <p:nvPr/>
        </p:nvPicPr>
        <p:blipFill>
          <a:blip r:embed="rId1"/>
          <a:stretch>
            <a:fillRect/>
          </a:stretch>
        </p:blipFill>
        <p:spPr>
          <a:xfrm>
            <a:off x="754937" y="1134368"/>
            <a:ext cx="6253601" cy="4825008"/>
          </a:xfrm>
          <a:prstGeom prst="rect">
            <a:avLst/>
          </a:prstGeom>
        </p:spPr>
      </p:pic>
      <p:sp>
        <p:nvSpPr>
          <p:cNvPr id="7" name="Text 4"/>
          <p:cNvSpPr/>
          <p:nvPr/>
        </p:nvSpPr>
        <p:spPr>
          <a:xfrm>
            <a:off x="3328410" y="3151161"/>
            <a:ext cx="1090672" cy="748193"/>
          </a:xfrm>
          <a:prstGeom prst="rect">
            <a:avLst/>
          </a:prstGeom>
          <a:noFill/>
          <a:ln/>
        </p:spPr>
        <p:txBody>
          <a:bodyPr wrap="square" lIns="0" tIns="0" rIns="0" bIns="0" rtlCol="0" anchor="t">
            <a:normAutofit/>
          </a:bodyPr>
          <a:lstStyle/>
          <a:p>
            <a:pPr algn="ctr" indent="0" marL="0">
              <a:lnSpc>
                <a:spcPct val="104000"/>
              </a:lnSpc>
              <a:buNone/>
            </a:pPr>
            <a:r>
              <a:rPr lang="en-US" sz="1550" dirty="0">
                <a:solidFill>
                  <a:srgbClr val="000000"/>
                </a:solidFill>
                <a:latin typeface="Roboto Slab" pitchFamily="34" charset="0"/>
                <a:ea typeface="Roboto Slab" pitchFamily="34" charset="-122"/>
                <a:cs typeface="Roboto Slab" pitchFamily="34" charset="-120"/>
              </a:rPr>
              <a:t>Dockerized Deployment Pipeline</a:t>
            </a:r>
            <a:endParaRPr lang="en-US" sz="1550" dirty="0"/>
          </a:p>
        </p:txBody>
      </p:sp>
      <p:sp>
        <p:nvSpPr>
          <p:cNvPr id="8" name="Text 5"/>
          <p:cNvSpPr/>
          <p:nvPr/>
        </p:nvSpPr>
        <p:spPr>
          <a:xfrm>
            <a:off x="4401347" y="4691191"/>
            <a:ext cx="1622568" cy="498795"/>
          </a:xfrm>
          <a:prstGeom prst="rect">
            <a:avLst/>
          </a:prstGeom>
          <a:noFill/>
          <a:ln/>
        </p:spPr>
        <p:txBody>
          <a:bodyPr wrap="square" lIns="0" tIns="0" rIns="0" bIns="0" rtlCol="0" anchor="t">
            <a:normAutofit/>
          </a:bodyPr>
          <a:lstStyle/>
          <a:p>
            <a:pPr algn="ctr" indent="0" marL="0">
              <a:lnSpc>
                <a:spcPct val="104000"/>
              </a:lnSpc>
              <a:buNone/>
            </a:pPr>
            <a:r>
              <a:rPr lang="en-US" sz="1550" dirty="0">
                <a:solidFill>
                  <a:srgbClr val="D6E5EF"/>
                </a:solidFill>
                <a:latin typeface="Roboto Slab" pitchFamily="34" charset="0"/>
                <a:ea typeface="Roboto Slab" pitchFamily="34" charset="-122"/>
                <a:cs typeface="Roboto Slab" pitchFamily="34" charset="-120"/>
              </a:rPr>
              <a:t>Preprocessing Module</a:t>
            </a:r>
            <a:endParaRPr lang="en-US" sz="1550" dirty="0"/>
          </a:p>
        </p:txBody>
      </p:sp>
      <p:sp>
        <p:nvSpPr>
          <p:cNvPr id="9" name="Text 6"/>
          <p:cNvSpPr/>
          <p:nvPr/>
        </p:nvSpPr>
        <p:spPr>
          <a:xfrm>
            <a:off x="4401347" y="5260926"/>
            <a:ext cx="1622568" cy="299277"/>
          </a:xfrm>
          <a:prstGeom prst="rect">
            <a:avLst/>
          </a:prstGeom>
          <a:noFill/>
          <a:ln/>
        </p:spPr>
        <p:txBody>
          <a:bodyPr wrap="square" lIns="0" tIns="0" rIns="0" bIns="0" rtlCol="0" anchor="t">
            <a:normAutofit/>
          </a:bodyPr>
          <a:lstStyle/>
          <a:p>
            <a:pPr algn="ctr" indent="0" marL="0">
              <a:lnSpc>
                <a:spcPct val="78000"/>
              </a:lnSpc>
              <a:buNone/>
            </a:pPr>
            <a:r>
              <a:rPr lang="en-US" sz="1250" dirty="0">
                <a:solidFill>
                  <a:srgbClr val="D6E5EF"/>
                </a:solidFill>
                <a:latin typeface="Roboto" pitchFamily="34" charset="0"/>
                <a:ea typeface="Roboto" pitchFamily="34" charset="-122"/>
                <a:cs typeface="Roboto" pitchFamily="34" charset="-120"/>
              </a:rPr>
              <a:t>Encoding and scaling features</a:t>
            </a:r>
            <a:endParaRPr lang="en-US" sz="1250" dirty="0"/>
          </a:p>
        </p:txBody>
      </p:sp>
      <p:sp>
        <p:nvSpPr>
          <p:cNvPr id="10" name="Text 7"/>
          <p:cNvSpPr/>
          <p:nvPr/>
        </p:nvSpPr>
        <p:spPr>
          <a:xfrm>
            <a:off x="1014058" y="3095047"/>
            <a:ext cx="1658037" cy="498795"/>
          </a:xfrm>
          <a:prstGeom prst="rect">
            <a:avLst/>
          </a:prstGeom>
          <a:noFill/>
          <a:ln/>
        </p:spPr>
        <p:txBody>
          <a:bodyPr wrap="square" lIns="0" tIns="0" rIns="0" bIns="0" rtlCol="0" anchor="t">
            <a:normAutofit/>
          </a:bodyPr>
          <a:lstStyle/>
          <a:p>
            <a:pPr algn="ctr" indent="0" marL="0">
              <a:lnSpc>
                <a:spcPct val="104000"/>
              </a:lnSpc>
              <a:buNone/>
            </a:pPr>
            <a:r>
              <a:rPr lang="en-US" sz="1550" dirty="0">
                <a:solidFill>
                  <a:srgbClr val="D6E5EF"/>
                </a:solidFill>
                <a:latin typeface="Roboto Slab" pitchFamily="34" charset="0"/>
                <a:ea typeface="Roboto Slab" pitchFamily="34" charset="-122"/>
                <a:cs typeface="Roboto Slab" pitchFamily="34" charset="-120"/>
              </a:rPr>
              <a:t>Predicted Parts Per Hour</a:t>
            </a:r>
            <a:endParaRPr lang="en-US" sz="1550" dirty="0"/>
          </a:p>
        </p:txBody>
      </p:sp>
      <p:sp>
        <p:nvSpPr>
          <p:cNvPr id="11" name="Text 8"/>
          <p:cNvSpPr/>
          <p:nvPr/>
        </p:nvSpPr>
        <p:spPr>
          <a:xfrm>
            <a:off x="1014058" y="3664782"/>
            <a:ext cx="1658037" cy="299277"/>
          </a:xfrm>
          <a:prstGeom prst="rect">
            <a:avLst/>
          </a:prstGeom>
          <a:noFill/>
          <a:ln/>
        </p:spPr>
        <p:txBody>
          <a:bodyPr wrap="square" lIns="0" tIns="0" rIns="0" bIns="0" rtlCol="0" anchor="t">
            <a:normAutofit/>
          </a:bodyPr>
          <a:lstStyle/>
          <a:p>
            <a:pPr algn="ctr" indent="0" marL="0">
              <a:lnSpc>
                <a:spcPct val="78000"/>
              </a:lnSpc>
              <a:buNone/>
            </a:pPr>
            <a:r>
              <a:rPr lang="en-US" sz="1250" dirty="0">
                <a:solidFill>
                  <a:srgbClr val="D6E5EF"/>
                </a:solidFill>
                <a:latin typeface="Roboto" pitchFamily="34" charset="0"/>
                <a:ea typeface="Roboto" pitchFamily="34" charset="-122"/>
                <a:cs typeface="Roboto" pitchFamily="34" charset="-120"/>
              </a:rPr>
              <a:t>JSON response returned to client</a:t>
            </a:r>
            <a:endParaRPr lang="en-US" sz="1250" dirty="0"/>
          </a:p>
        </p:txBody>
      </p:sp>
      <p:sp>
        <p:nvSpPr>
          <p:cNvPr id="12" name="Text 9"/>
          <p:cNvSpPr/>
          <p:nvPr/>
        </p:nvSpPr>
        <p:spPr>
          <a:xfrm>
            <a:off x="1696836" y="4566492"/>
            <a:ext cx="1622568" cy="748193"/>
          </a:xfrm>
          <a:prstGeom prst="rect">
            <a:avLst/>
          </a:prstGeom>
          <a:noFill/>
          <a:ln/>
        </p:spPr>
        <p:txBody>
          <a:bodyPr wrap="square" lIns="0" tIns="0" rIns="0" bIns="0" rtlCol="0" anchor="t">
            <a:normAutofit/>
          </a:bodyPr>
          <a:lstStyle/>
          <a:p>
            <a:pPr algn="ctr" indent="0" marL="0">
              <a:lnSpc>
                <a:spcPct val="104000"/>
              </a:lnSpc>
              <a:buNone/>
            </a:pPr>
            <a:r>
              <a:rPr lang="en-US" sz="1550" dirty="0">
                <a:solidFill>
                  <a:srgbClr val="D6E5EF"/>
                </a:solidFill>
                <a:latin typeface="Roboto Slab" pitchFamily="34" charset="0"/>
                <a:ea typeface="Roboto Slab" pitchFamily="34" charset="-122"/>
                <a:cs typeface="Roboto Slab" pitchFamily="34" charset="-120"/>
              </a:rPr>
              <a:t>Linear Regression Model</a:t>
            </a:r>
            <a:endParaRPr lang="en-US" sz="1550" dirty="0"/>
          </a:p>
        </p:txBody>
      </p:sp>
      <p:sp>
        <p:nvSpPr>
          <p:cNvPr id="13" name="Text 10"/>
          <p:cNvSpPr/>
          <p:nvPr/>
        </p:nvSpPr>
        <p:spPr>
          <a:xfrm>
            <a:off x="1696836" y="5385625"/>
            <a:ext cx="1622568" cy="299277"/>
          </a:xfrm>
          <a:prstGeom prst="rect">
            <a:avLst/>
          </a:prstGeom>
          <a:noFill/>
          <a:ln/>
        </p:spPr>
        <p:txBody>
          <a:bodyPr wrap="square" lIns="0" tIns="0" rIns="0" bIns="0" rtlCol="0" anchor="t">
            <a:normAutofit/>
          </a:bodyPr>
          <a:lstStyle/>
          <a:p>
            <a:pPr algn="ctr" indent="0" marL="0">
              <a:lnSpc>
                <a:spcPct val="78000"/>
              </a:lnSpc>
              <a:buNone/>
            </a:pPr>
            <a:r>
              <a:rPr lang="en-US" sz="1250" dirty="0">
                <a:solidFill>
                  <a:srgbClr val="D6E5EF"/>
                </a:solidFill>
                <a:latin typeface="Roboto" pitchFamily="34" charset="0"/>
                <a:ea typeface="Roboto" pitchFamily="34" charset="-122"/>
                <a:cs typeface="Roboto" pitchFamily="34" charset="-120"/>
              </a:rPr>
              <a:t>Trained model generates prediction</a:t>
            </a:r>
            <a:endParaRPr lang="en-US" sz="1250" dirty="0"/>
          </a:p>
        </p:txBody>
      </p:sp>
      <p:sp>
        <p:nvSpPr>
          <p:cNvPr id="14" name="Text 11"/>
          <p:cNvSpPr/>
          <p:nvPr/>
        </p:nvSpPr>
        <p:spPr>
          <a:xfrm>
            <a:off x="5075257" y="3086179"/>
            <a:ext cx="1658037" cy="498795"/>
          </a:xfrm>
          <a:prstGeom prst="rect">
            <a:avLst/>
          </a:prstGeom>
          <a:noFill/>
          <a:ln/>
        </p:spPr>
        <p:txBody>
          <a:bodyPr wrap="square" lIns="0" tIns="0" rIns="0" bIns="0" rtlCol="0" anchor="t">
            <a:normAutofit/>
          </a:bodyPr>
          <a:lstStyle/>
          <a:p>
            <a:pPr algn="ctr" indent="0" marL="0">
              <a:lnSpc>
                <a:spcPct val="104000"/>
              </a:lnSpc>
              <a:buNone/>
            </a:pPr>
            <a:r>
              <a:rPr lang="en-US" sz="1550" dirty="0">
                <a:solidFill>
                  <a:srgbClr val="D6E5EF"/>
                </a:solidFill>
                <a:latin typeface="Roboto Slab" pitchFamily="34" charset="0"/>
                <a:ea typeface="Roboto Slab" pitchFamily="34" charset="-122"/>
                <a:cs typeface="Roboto Slab" pitchFamily="34" charset="-120"/>
              </a:rPr>
              <a:t>FastAPI Endpoint</a:t>
            </a:r>
            <a:endParaRPr lang="en-US" sz="1550" dirty="0"/>
          </a:p>
        </p:txBody>
      </p:sp>
      <p:sp>
        <p:nvSpPr>
          <p:cNvPr id="15" name="Text 12"/>
          <p:cNvSpPr/>
          <p:nvPr/>
        </p:nvSpPr>
        <p:spPr>
          <a:xfrm>
            <a:off x="5075257" y="3655914"/>
            <a:ext cx="1658037" cy="299277"/>
          </a:xfrm>
          <a:prstGeom prst="rect">
            <a:avLst/>
          </a:prstGeom>
          <a:noFill/>
          <a:ln/>
        </p:spPr>
        <p:txBody>
          <a:bodyPr wrap="square" lIns="0" tIns="0" rIns="0" bIns="0" rtlCol="0" anchor="t">
            <a:normAutofit/>
          </a:bodyPr>
          <a:lstStyle/>
          <a:p>
            <a:pPr algn="ctr" indent="0" marL="0">
              <a:lnSpc>
                <a:spcPct val="78000"/>
              </a:lnSpc>
              <a:buNone/>
            </a:pPr>
            <a:r>
              <a:rPr lang="en-US" sz="1250" dirty="0">
                <a:solidFill>
                  <a:srgbClr val="D6E5EF"/>
                </a:solidFill>
                <a:latin typeface="Roboto" pitchFamily="34" charset="0"/>
                <a:ea typeface="Roboto" pitchFamily="34" charset="-122"/>
                <a:cs typeface="Roboto" pitchFamily="34" charset="-120"/>
              </a:rPr>
              <a:t>Receives and validates REST input</a:t>
            </a:r>
            <a:endParaRPr lang="en-US" sz="1250" dirty="0"/>
          </a:p>
        </p:txBody>
      </p:sp>
      <p:sp>
        <p:nvSpPr>
          <p:cNvPr id="16" name="Text 13"/>
          <p:cNvSpPr/>
          <p:nvPr/>
        </p:nvSpPr>
        <p:spPr>
          <a:xfrm>
            <a:off x="3009189" y="1548228"/>
            <a:ext cx="1666904" cy="249398"/>
          </a:xfrm>
          <a:prstGeom prst="rect">
            <a:avLst/>
          </a:prstGeom>
          <a:noFill/>
          <a:ln/>
        </p:spPr>
        <p:txBody>
          <a:bodyPr wrap="none" lIns="0" tIns="0" rIns="0" bIns="0" rtlCol="0" anchor="t"/>
          <a:lstStyle/>
          <a:p>
            <a:pPr algn="ctr" indent="0" marL="0">
              <a:lnSpc>
                <a:spcPct val="104000"/>
              </a:lnSpc>
              <a:buNone/>
            </a:pPr>
            <a:r>
              <a:rPr lang="en-US" sz="1550" dirty="0">
                <a:solidFill>
                  <a:srgbClr val="D6E5EF"/>
                </a:solidFill>
                <a:latin typeface="Roboto Slab" pitchFamily="34" charset="0"/>
                <a:ea typeface="Roboto Slab" pitchFamily="34" charset="-122"/>
                <a:cs typeface="Roboto Slab" pitchFamily="34" charset="-120"/>
              </a:rPr>
              <a:t>User Input</a:t>
            </a:r>
            <a:endParaRPr lang="en-US" sz="1550" dirty="0"/>
          </a:p>
        </p:txBody>
      </p:sp>
      <p:sp>
        <p:nvSpPr>
          <p:cNvPr id="17" name="Text 14"/>
          <p:cNvSpPr/>
          <p:nvPr/>
        </p:nvSpPr>
        <p:spPr>
          <a:xfrm>
            <a:off x="3009189" y="1868565"/>
            <a:ext cx="1666904" cy="299277"/>
          </a:xfrm>
          <a:prstGeom prst="rect">
            <a:avLst/>
          </a:prstGeom>
          <a:noFill/>
          <a:ln/>
        </p:spPr>
        <p:txBody>
          <a:bodyPr wrap="square" lIns="0" tIns="0" rIns="0" bIns="0" rtlCol="0" anchor="t">
            <a:normAutofit/>
          </a:bodyPr>
          <a:lstStyle/>
          <a:p>
            <a:pPr algn="ctr" indent="0" marL="0">
              <a:lnSpc>
                <a:spcPct val="78000"/>
              </a:lnSpc>
              <a:buNone/>
            </a:pPr>
            <a:r>
              <a:rPr lang="en-US" sz="1250" dirty="0">
                <a:solidFill>
                  <a:srgbClr val="D6E5EF"/>
                </a:solidFill>
                <a:latin typeface="Roboto" pitchFamily="34" charset="0"/>
                <a:ea typeface="Roboto" pitchFamily="34" charset="-122"/>
                <a:cs typeface="Roboto" pitchFamily="34" charset="-120"/>
              </a:rPr>
              <a:t>Machine params via form or API</a:t>
            </a:r>
            <a:endParaRPr lang="en-US" sz="1250" dirty="0"/>
          </a:p>
        </p:txBody>
      </p:sp>
      <p:sp>
        <p:nvSpPr>
          <p:cNvPr id="18" name="Text 15"/>
          <p:cNvSpPr/>
          <p:nvPr/>
        </p:nvSpPr>
        <p:spPr>
          <a:xfrm>
            <a:off x="661475" y="6005810"/>
            <a:ext cx="6440525" cy="198239"/>
          </a:xfrm>
          <a:prstGeom prst="rect">
            <a:avLst/>
          </a:prstGeom>
          <a:noFill/>
          <a:ln/>
        </p:spPr>
        <p:txBody>
          <a:bodyPr wrap="square" lIns="0" tIns="0" rIns="0" bIns="0" rtlCol="0" anchor="t">
            <a:normAutofit/>
          </a:bodyPr>
          <a:lstStyle/>
          <a:p>
            <a:pPr algn="l" indent="0" marL="0">
              <a:lnSpc>
                <a:spcPct val="100000"/>
              </a:lnSpc>
              <a:buNone/>
            </a:pPr>
            <a:r>
              <a:rPr lang="en-US" sz="650" b="1" dirty="0">
                <a:solidFill>
                  <a:srgbClr val="D6E5EF"/>
                </a:solidFill>
                <a:latin typeface="Roboto Bold" pitchFamily="34" charset="0"/>
                <a:ea typeface="Roboto Bold" pitchFamily="34" charset="-122"/>
                <a:cs typeface="Roboto Bold" pitchFamily="34" charset="-120"/>
              </a:rPr>
              <a:t>FastAPI</a:t>
            </a:r>
            <a:pPr algn="l" indent="0" marL="0">
              <a:lnSpc>
                <a:spcPct val="100000"/>
              </a:lnSpc>
              <a:buNone/>
            </a:pPr>
            <a:r>
              <a:rPr lang="en-US" sz="650" dirty="0">
                <a:solidFill>
                  <a:srgbClr val="D6E5EF"/>
                </a:solidFill>
                <a:latin typeface="Roboto" pitchFamily="34" charset="0"/>
                <a:ea typeface="Roboto" pitchFamily="34" charset="-122"/>
                <a:cs typeface="Roboto" pitchFamily="34" charset="-120"/>
              </a:rPr>
              <a:t> serves predictions via a REST endpoint. The entire service — API, preprocessing, and model — is containerized using </a:t>
            </a:r>
            <a:pPr algn="l" indent="0" marL="0">
              <a:lnSpc>
                <a:spcPct val="100000"/>
              </a:lnSpc>
              <a:buNone/>
            </a:pPr>
            <a:r>
              <a:rPr lang="en-US" sz="650" b="1" dirty="0">
                <a:solidFill>
                  <a:srgbClr val="D6E5EF"/>
                </a:solidFill>
                <a:latin typeface="Roboto Bold" pitchFamily="34" charset="0"/>
                <a:ea typeface="Roboto Bold" pitchFamily="34" charset="-122"/>
                <a:cs typeface="Roboto Bold" pitchFamily="34" charset="-120"/>
              </a:rPr>
              <a:t>Docker</a:t>
            </a:r>
            <a:pPr algn="l" indent="0" marL="0">
              <a:lnSpc>
                <a:spcPct val="100000"/>
              </a:lnSpc>
              <a:buNone/>
            </a:pPr>
            <a:r>
              <a:rPr lang="en-US" sz="650" dirty="0">
                <a:solidFill>
                  <a:srgbClr val="D6E5EF"/>
                </a:solidFill>
                <a:latin typeface="Roboto" pitchFamily="34" charset="0"/>
                <a:ea typeface="Roboto" pitchFamily="34" charset="-122"/>
                <a:cs typeface="Roboto" pitchFamily="34" charset="-120"/>
              </a:rPr>
              <a:t> for reproducible, platform-independent deployment.</a:t>
            </a:r>
            <a:endParaRPr lang="en-US" sz="650" dirty="0"/>
          </a:p>
        </p:txBody>
      </p:sp>
      <p:sp>
        <p:nvSpPr>
          <p:cNvPr id="19" name="Text 16"/>
          <p:cNvSpPr/>
          <p:nvPr/>
        </p:nvSpPr>
        <p:spPr>
          <a:xfrm>
            <a:off x="7309957" y="958751"/>
            <a:ext cx="4226514" cy="129183"/>
          </a:xfrm>
          <a:prstGeom prst="rect">
            <a:avLst/>
          </a:prstGeom>
          <a:noFill/>
          <a:ln/>
        </p:spPr>
        <p:txBody>
          <a:bodyPr wrap="none" lIns="0" tIns="0" rIns="0" bIns="0" rtlCol="0" anchor="t"/>
          <a:lstStyle/>
          <a:p>
            <a:pPr algn="l" indent="0" marL="0">
              <a:lnSpc>
                <a:spcPct val="104000"/>
              </a:lnSpc>
              <a:buNone/>
            </a:pPr>
            <a:r>
              <a:rPr lang="en-US" sz="800" dirty="0">
                <a:solidFill>
                  <a:srgbClr val="76B9FF"/>
                </a:solidFill>
                <a:latin typeface="Roboto Slab" pitchFamily="34" charset="0"/>
                <a:ea typeface="Roboto Slab" pitchFamily="34" charset="-122"/>
                <a:cs typeface="Roboto Slab" pitchFamily="34" charset="-120"/>
              </a:rPr>
              <a:t>Business Impact</a:t>
            </a:r>
            <a:endParaRPr lang="en-US" sz="800" dirty="0"/>
          </a:p>
        </p:txBody>
      </p:sp>
      <p:sp>
        <p:nvSpPr>
          <p:cNvPr id="20" name="Text 17"/>
          <p:cNvSpPr/>
          <p:nvPr/>
        </p:nvSpPr>
        <p:spPr>
          <a:xfrm>
            <a:off x="7309957" y="1129209"/>
            <a:ext cx="4226514" cy="326132"/>
          </a:xfrm>
          <a:prstGeom prst="rect">
            <a:avLst/>
          </a:prstGeom>
          <a:noFill/>
          <a:ln/>
        </p:spPr>
        <p:txBody>
          <a:bodyPr wrap="square" lIns="0" tIns="0" rIns="0" bIns="0" rtlCol="0" anchor="t">
            <a:normAutofit/>
          </a:bodyPr>
          <a:lstStyle/>
          <a:p>
            <a:pPr algn="l" marL="132080" indent="-132080">
              <a:lnSpc>
                <a:spcPct val="100000"/>
              </a:lnSpc>
              <a:buSzPct val="100000"/>
              <a:buChar char="•"/>
            </a:pPr>
            <a:r>
              <a:rPr lang="en-US" sz="650" dirty="0">
                <a:solidFill>
                  <a:srgbClr val="D6E5EF"/>
                </a:solidFill>
                <a:latin typeface="Roboto" pitchFamily="34" charset="0"/>
                <a:ea typeface="Roboto" pitchFamily="34" charset="-122"/>
                <a:cs typeface="Roboto" pitchFamily="34" charset="-120"/>
              </a:rPr>
              <a:t>Production Planning — Forecast output to optimize scheduling</a:t>
            </a:r>
            <a:endParaRPr lang="en-US" sz="650" dirty="0"/>
          </a:p>
          <a:p>
            <a:pPr algn="l" marL="132080" indent="-132080">
              <a:lnSpc>
                <a:spcPct val="100000"/>
              </a:lnSpc>
              <a:buSzPct val="100000"/>
              <a:buChar char="•"/>
            </a:pPr>
            <a:r>
              <a:rPr lang="en-US" sz="650" dirty="0">
                <a:solidFill>
                  <a:srgbClr val="D6E5EF"/>
                </a:solidFill>
                <a:latin typeface="Roboto" pitchFamily="34" charset="0"/>
                <a:ea typeface="Roboto" pitchFamily="34" charset="-122"/>
                <a:cs typeface="Roboto" pitchFamily="34" charset="-120"/>
              </a:rPr>
              <a:t>Machine Monitoring — Detect low-output conditions early</a:t>
            </a:r>
            <a:endParaRPr lang="en-US" sz="650" dirty="0"/>
          </a:p>
          <a:p>
            <a:pPr algn="l" marL="132080" indent="-132080">
              <a:lnSpc>
                <a:spcPct val="100000"/>
              </a:lnSpc>
              <a:buSzPct val="100000"/>
              <a:buChar char="•"/>
            </a:pPr>
            <a:r>
              <a:rPr lang="en-US" sz="650" dirty="0">
                <a:solidFill>
                  <a:srgbClr val="D6E5EF"/>
                </a:solidFill>
                <a:latin typeface="Roboto" pitchFamily="34" charset="0"/>
                <a:ea typeface="Roboto" pitchFamily="34" charset="-122"/>
                <a:cs typeface="Roboto" pitchFamily="34" charset="-120"/>
              </a:rPr>
              <a:t>Data-Driven Decisions — Replace guesswork with model predictions</a:t>
            </a:r>
            <a:endParaRPr lang="en-US" sz="650" dirty="0"/>
          </a:p>
        </p:txBody>
      </p:sp>
      <p:sp>
        <p:nvSpPr>
          <p:cNvPr id="21" name="Text 18"/>
          <p:cNvSpPr/>
          <p:nvPr/>
        </p:nvSpPr>
        <p:spPr>
          <a:xfrm>
            <a:off x="7309957" y="1496616"/>
            <a:ext cx="4226514" cy="129183"/>
          </a:xfrm>
          <a:prstGeom prst="rect">
            <a:avLst/>
          </a:prstGeom>
          <a:noFill/>
          <a:ln/>
        </p:spPr>
        <p:txBody>
          <a:bodyPr wrap="none" lIns="0" tIns="0" rIns="0" bIns="0" rtlCol="0" anchor="t"/>
          <a:lstStyle/>
          <a:p>
            <a:pPr algn="l" indent="0" marL="0">
              <a:lnSpc>
                <a:spcPct val="104000"/>
              </a:lnSpc>
              <a:buNone/>
            </a:pPr>
            <a:r>
              <a:rPr lang="en-US" sz="800" dirty="0">
                <a:solidFill>
                  <a:srgbClr val="76B9FF"/>
                </a:solidFill>
                <a:latin typeface="Roboto Slab" pitchFamily="34" charset="0"/>
                <a:ea typeface="Roboto Slab" pitchFamily="34" charset="-122"/>
                <a:cs typeface="Roboto Slab" pitchFamily="34" charset="-120"/>
              </a:rPr>
              <a:t>Future Scope</a:t>
            </a:r>
            <a:endParaRPr lang="en-US" sz="800" dirty="0"/>
          </a:p>
        </p:txBody>
      </p:sp>
      <p:sp>
        <p:nvSpPr>
          <p:cNvPr id="22" name="Text 19"/>
          <p:cNvSpPr/>
          <p:nvPr/>
        </p:nvSpPr>
        <p:spPr>
          <a:xfrm>
            <a:off x="7309957" y="1667073"/>
            <a:ext cx="4226514" cy="326132"/>
          </a:xfrm>
          <a:prstGeom prst="rect">
            <a:avLst/>
          </a:prstGeom>
          <a:noFill/>
          <a:ln/>
        </p:spPr>
        <p:txBody>
          <a:bodyPr wrap="square" lIns="0" tIns="0" rIns="0" bIns="0" rtlCol="0" anchor="t">
            <a:normAutofit/>
          </a:bodyPr>
          <a:lstStyle/>
          <a:p>
            <a:pPr algn="l" marL="132080" indent="-132080">
              <a:lnSpc>
                <a:spcPct val="100000"/>
              </a:lnSpc>
              <a:buSzPct val="100000"/>
              <a:buChar char="•"/>
            </a:pPr>
            <a:r>
              <a:rPr lang="en-US" sz="650" dirty="0">
                <a:solidFill>
                  <a:srgbClr val="D6E5EF"/>
                </a:solidFill>
                <a:latin typeface="Roboto" pitchFamily="34" charset="0"/>
                <a:ea typeface="Roboto" pitchFamily="34" charset="-122"/>
                <a:cs typeface="Roboto" pitchFamily="34" charset="-120"/>
              </a:rPr>
              <a:t>Advanced Models — Random Forest / XGBoost for improved accuracy</a:t>
            </a:r>
            <a:endParaRPr lang="en-US" sz="650" dirty="0"/>
          </a:p>
          <a:p>
            <a:pPr algn="l" marL="132080" indent="-132080">
              <a:lnSpc>
                <a:spcPct val="100000"/>
              </a:lnSpc>
              <a:buSzPct val="100000"/>
              <a:buChar char="•"/>
            </a:pPr>
            <a:r>
              <a:rPr lang="en-US" sz="650" dirty="0">
                <a:solidFill>
                  <a:srgbClr val="D6E5EF"/>
                </a:solidFill>
                <a:latin typeface="Roboto" pitchFamily="34" charset="0"/>
                <a:ea typeface="Roboto" pitchFamily="34" charset="-122"/>
                <a:cs typeface="Roboto" pitchFamily="34" charset="-120"/>
              </a:rPr>
              <a:t>Real-Time IoT Integration — Stream live machine sensor data into predictions</a:t>
            </a:r>
            <a:endParaRPr lang="en-US" sz="650" dirty="0"/>
          </a:p>
          <a:p>
            <a:pPr algn="l" marL="132080" indent="-132080">
              <a:lnSpc>
                <a:spcPct val="100000"/>
              </a:lnSpc>
              <a:buSzPct val="100000"/>
              <a:buChar char="•"/>
            </a:pPr>
            <a:r>
              <a:rPr lang="en-US" sz="650" dirty="0">
                <a:solidFill>
                  <a:srgbClr val="D6E5EF"/>
                </a:solidFill>
                <a:latin typeface="Roboto" pitchFamily="34" charset="0"/>
                <a:ea typeface="Roboto" pitchFamily="34" charset="-122"/>
                <a:cs typeface="Roboto" pitchFamily="34" charset="-120"/>
              </a:rPr>
              <a:t>Monitoring Dashboard — Visual production monitoring and alerting interface</a:t>
            </a:r>
            <a:endParaRPr lang="en-US" sz="650" dirty="0"/>
          </a:p>
        </p:txBody>
      </p:sp>
      <p:sp>
        <p:nvSpPr>
          <p:cNvPr id="23" name="Shape 20"/>
          <p:cNvSpPr/>
          <p:nvPr/>
        </p:nvSpPr>
        <p:spPr>
          <a:xfrm>
            <a:off x="661475" y="6308328"/>
            <a:ext cx="10868745" cy="12700"/>
          </a:xfrm>
          <a:prstGeom prst="roundRect">
            <a:avLst>
              <a:gd name="adj" fmla="val 49999"/>
            </a:avLst>
          </a:prstGeom>
          <a:solidFill>
            <a:srgbClr val="D6E5EF">
              <a:alpha val="50000"/>
            </a:srgbClr>
          </a:solidFill>
          <a:ln/>
        </p:spPr>
      </p:sp>
      <p:sp>
        <p:nvSpPr>
          <p:cNvPr id="24" name="Text 21"/>
          <p:cNvSpPr/>
          <p:nvPr/>
        </p:nvSpPr>
        <p:spPr>
          <a:xfrm>
            <a:off x="661475" y="6403677"/>
            <a:ext cx="10868745" cy="129183"/>
          </a:xfrm>
          <a:prstGeom prst="rect">
            <a:avLst/>
          </a:prstGeom>
          <a:noFill/>
          <a:ln/>
        </p:spPr>
        <p:txBody>
          <a:bodyPr wrap="none" lIns="0" tIns="0" rIns="0" bIns="0" rtlCol="0" anchor="t"/>
          <a:lstStyle/>
          <a:p>
            <a:pPr algn="ctr" indent="0" marL="0">
              <a:lnSpc>
                <a:spcPct val="104000"/>
              </a:lnSpc>
              <a:buNone/>
            </a:pPr>
            <a:r>
              <a:rPr lang="en-US" sz="800" dirty="0">
                <a:solidFill>
                  <a:srgbClr val="003D82"/>
                </a:solidFill>
                <a:latin typeface="Roboto Slab" pitchFamily="34" charset="0"/>
                <a:ea typeface="Roboto Slab" pitchFamily="34" charset="-122"/>
                <a:cs typeface="Roboto Slab" pitchFamily="34" charset="-120"/>
              </a:rPr>
              <a:t>Thank You — Questions Welcome</a:t>
            </a:r>
            <a:endParaRPr lang="en-US" sz="800" dirty="0"/>
          </a:p>
        </p:txBody>
      </p:sp>
      <p:sp>
        <p:nvSpPr>
          <p:cNvPr id="25" name="Text 22"/>
          <p:cNvSpPr/>
          <p:nvPr/>
        </p:nvSpPr>
        <p:spPr>
          <a:xfrm>
            <a:off x="356682" y="6594872"/>
            <a:ext cx="11478330" cy="99120"/>
          </a:xfrm>
          <a:prstGeom prst="rect">
            <a:avLst/>
          </a:prstGeom>
          <a:noFill/>
          <a:ln/>
        </p:spPr>
        <p:txBody>
          <a:bodyPr wrap="none" lIns="0" tIns="0" rIns="0" bIns="0" rtlCol="0" anchor="t"/>
          <a:lstStyle/>
          <a:p>
            <a:pPr algn="ctr" indent="0" marL="0">
              <a:lnSpc>
                <a:spcPct val="100000"/>
              </a:lnSpc>
              <a:buNone/>
            </a:pPr>
            <a:r>
              <a:rPr lang="en-US" sz="650" dirty="0">
                <a:solidFill>
                  <a:srgbClr val="D6E5EF"/>
                </a:solidFill>
                <a:latin typeface="Roboto" pitchFamily="34" charset="0"/>
                <a:ea typeface="Roboto" pitchFamily="34" charset="-122"/>
                <a:cs typeface="Roboto" pitchFamily="34" charset="-120"/>
              </a:rPr>
              <a:t>TNS Data Science Capstone Project · Manufacturing Equipment Output Prediction Using Linear Regression</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2026-09-27T14:09:50Z</dcterms:created>
  <dcterms:modified xsi:type="dcterms:W3CDTF">2026-09-27T14:09:50Z</dcterms:modified>
</cp:coreProperties>
</file>